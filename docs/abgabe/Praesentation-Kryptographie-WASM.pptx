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fd755aacc84670" /><Relationship Type="http://schemas.openxmlformats.org/officeDocument/2006/relationships/extended-properties" Target="/docProps/app.xml" Id="Rab8f678acc2b49d6" /><Relationship Type="http://schemas.openxmlformats.org/officeDocument/2006/relationships/officeDocument" Target="/ppt/presentation.xml" Id="R1a4bcc41a48b42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f5e3a3d13f47a3"/>
  </p:sldMasterIdLst>
  <p:notesMasterIdLst>
    <p:notesMasterId xmlns:r="http://schemas.openxmlformats.org/officeDocument/2006/relationships" r:id="Rac6d0c9c2dcd4dbf"/>
  </p:notesMasterIdLst>
  <p:sldIdLst>
    <p:sldId xmlns:r="http://schemas.openxmlformats.org/officeDocument/2006/relationships" id="256" r:id="Rb951027c60044ae2"/>
    <p:sldId xmlns:r="http://schemas.openxmlformats.org/officeDocument/2006/relationships" id="257" r:id="R50715c2c3e2b41b8"/>
    <p:sldId xmlns:r="http://schemas.openxmlformats.org/officeDocument/2006/relationships" id="258" r:id="R1a207b5f501d4a81"/>
    <p:sldId xmlns:r="http://schemas.openxmlformats.org/officeDocument/2006/relationships" id="259" r:id="Rc2ac54a97eef4715"/>
    <p:sldId xmlns:r="http://schemas.openxmlformats.org/officeDocument/2006/relationships" id="260" r:id="Rb9d1d7890a7c40f1"/>
    <p:sldId xmlns:r="http://schemas.openxmlformats.org/officeDocument/2006/relationships" id="261" r:id="Rd84f56c5e0a64a57"/>
    <p:sldId xmlns:r="http://schemas.openxmlformats.org/officeDocument/2006/relationships" id="262" r:id="R5277fb8dcaf7475c"/>
    <p:sldId xmlns:r="http://schemas.openxmlformats.org/officeDocument/2006/relationships" id="263" r:id="Rbd5b115d3fe04f33"/>
    <p:sldId xmlns:r="http://schemas.openxmlformats.org/officeDocument/2006/relationships" id="264" r:id="R19f950ad6d6f49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5780a6dff64fe2" /><Relationship Type="http://schemas.openxmlformats.org/officeDocument/2006/relationships/slideMaster" Target="/ppt/slideMasters/slideMaster1.xml" Id="R4bf5e3a3d13f47a3" /><Relationship Type="http://schemas.openxmlformats.org/officeDocument/2006/relationships/notesMaster" Target="/ppt/notesMasters/notesMaster1.xml" Id="Rac6d0c9c2dcd4dbf" /><Relationship Type="http://schemas.openxmlformats.org/officeDocument/2006/relationships/presProps" Target="/ppt/presProps.xml" Id="R4c61a1b98b0d4835" /><Relationship Type="http://schemas.openxmlformats.org/officeDocument/2006/relationships/tableStyles" Target="/ppt/tableStyles.xml" Id="R94458131f5b54b7f" /><Relationship Type="http://schemas.openxmlformats.org/officeDocument/2006/relationships/slide" Target="/ppt/slides/slide1.xml" Id="Rb951027c60044ae2" /><Relationship Type="http://schemas.openxmlformats.org/officeDocument/2006/relationships/slide" Target="/ppt/slides/slide2.xml" Id="R50715c2c3e2b41b8" /><Relationship Type="http://schemas.openxmlformats.org/officeDocument/2006/relationships/slide" Target="/ppt/slides/slide3.xml" Id="R1a207b5f501d4a81" /><Relationship Type="http://schemas.openxmlformats.org/officeDocument/2006/relationships/slide" Target="/ppt/slides/slide4.xml" Id="Rc2ac54a97eef4715" /><Relationship Type="http://schemas.openxmlformats.org/officeDocument/2006/relationships/slide" Target="/ppt/slides/slide5.xml" Id="Rb9d1d7890a7c40f1" /><Relationship Type="http://schemas.openxmlformats.org/officeDocument/2006/relationships/slide" Target="/ppt/slides/slide6.xml" Id="Rd84f56c5e0a64a57" /><Relationship Type="http://schemas.openxmlformats.org/officeDocument/2006/relationships/slide" Target="/ppt/slides/slide7.xml" Id="R5277fb8dcaf7475c" /><Relationship Type="http://schemas.openxmlformats.org/officeDocument/2006/relationships/slide" Target="/ppt/slides/slide8.xml" Id="Rbd5b115d3fe04f33" /><Relationship Type="http://schemas.openxmlformats.org/officeDocument/2006/relationships/slide" Target="/ppt/slides/slide9.xml" Id="R19f950ad6d6f49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e496ba05b64a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ryptographie Cyber">
      <a:dk1>
        <a:srgbClr val="000000"/>
      </a:dk1>
      <a:lt1>
        <a:srgbClr val="FFFFFF"/>
      </a:lt1>
      <a:dk2>
        <a:srgbClr val="10243A"/>
      </a:dk2>
      <a:lt2>
        <a:srgbClr val="E2E8F0"/>
      </a:lt2>
      <a:accent1>
        <a:srgbClr val="2DD4BF"/>
      </a:accent1>
      <a:accent2>
        <a:srgbClr val="F43F8A"/>
      </a:accent2>
      <a:accent3>
        <a:srgbClr val="FBBF24"/>
      </a:accent3>
      <a:accent4>
        <a:srgbClr val="34D399"/>
      </a:accent4>
      <a:accent5>
        <a:srgbClr val="8B5CF6"/>
      </a:accent5>
      <a:accent6>
        <a:srgbClr val="FB7185"/>
      </a:accent6>
      <a:hlink>
        <a:srgbClr val="2DD4BF"/>
      </a:hlink>
      <a:folHlink>
        <a:srgbClr val="F43F8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ryptographie Cyber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8955aa0d8e4fba" /><Relationship Type="http://schemas.openxmlformats.org/officeDocument/2006/relationships/notesMaster" Target="/ppt/notesMasters/notesMaster1.xml" Id="R3609a95d4fa14e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7d224ec7df40d7" /><Relationship Type="http://schemas.openxmlformats.org/officeDocument/2006/relationships/notesMaster" Target="/ppt/notesMasters/notesMaster1.xml" Id="Re8dda294521448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83e358844f40fb" /><Relationship Type="http://schemas.openxmlformats.org/officeDocument/2006/relationships/notesMaster" Target="/ppt/notesMasters/notesMaster1.xml" Id="Rf5e7e322ea4f4e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a98cc934014772" /><Relationship Type="http://schemas.openxmlformats.org/officeDocument/2006/relationships/notesMaster" Target="/ppt/notesMasters/notesMaster1.xml" Id="Rb8f41348054d4f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896e5f10bf41de" /><Relationship Type="http://schemas.openxmlformats.org/officeDocument/2006/relationships/notesMaster" Target="/ppt/notesMasters/notesMaster1.xml" Id="Rbe0c79dcb7004a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f5700430f749d4" /><Relationship Type="http://schemas.openxmlformats.org/officeDocument/2006/relationships/notesMaster" Target="/ppt/notesMasters/notesMaster1.xml" Id="R0aba266dcfd742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78f08440114249" /><Relationship Type="http://schemas.openxmlformats.org/officeDocument/2006/relationships/notesMaster" Target="/ppt/notesMasters/notesMaster1.xml" Id="R258a7eb3bc0641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949e48c2a341f3" /><Relationship Type="http://schemas.openxmlformats.org/officeDocument/2006/relationships/notesMaster" Target="/ppt/notesMasters/notesMaster1.xml" Id="R94cc38d1967844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08c1e019d54193" /><Relationship Type="http://schemas.openxmlformats.org/officeDocument/2006/relationships/notesMaster" Target="/ppt/notesMasters/notesMaster1.xml" Id="Rd91b4ada70404f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einem Satz: Wir zeigen Kryptographie als interaktive Lernanwendung, deren gesamte Fachlogik in Rust läuft.</a:t>
            </a:r>
          </a:p>
          <a:p xmlns:a="http://schemas.openxmlformats.org/drawingml/2006/main">
            <a:r>
              <a:t>Ziel der Präsentation: Architektur, zwei Demo-Flows und messbare Qualität.</a:t>
            </a:r>
          </a:p>
          <a:p xmlns:a="http://schemas.openxmlformats.org/drawingml/2006/main">
            <a:r>
              <a:t>Zeit: 0:00–0:35.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Drei historische Verfahren sind bewusst didaktisch und nicht sicher.</a:t>
            </a:r>
          </a:p>
          <a:p xmlns:a="http://schemas.openxmlformats.org/drawingml/2006/main">
            <a:r>
              <a:t>AES-GCM und ChaCha20-Poly1305 zeigen zusätzlich Integrität: Manipulation muss scheitern.</a:t>
            </a:r>
          </a:p>
          <a:p xmlns:a="http://schemas.openxmlformats.org/drawingml/2006/main">
            <a:r>
              <a:t>Die App arbeitet statisch und lokal im Browser; produktives Schlüsselmanagement ist nicht Teil des Scopes.</a:t>
            </a:r>
          </a:p>
          <a:p xmlns:a="http://schemas.openxmlformats.org/drawingml/2006/main">
            <a:r>
              <a:t>Zeit: 0:35–1:10.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Abhängigkeit zeigt nur in eine Richtung: UI, JS-Brücke, WASM-Exports, Rust-Domäne.</a:t>
            </a:r>
          </a:p>
          <a:p xmlns:a="http://schemas.openxmlformats.org/drawingml/2006/main">
            <a:r>
              <a:t>Der Browser kennt die Implementierung nicht; Rust kennt den DOM nicht.</a:t>
            </a:r>
          </a:p>
          <a:p xmlns:a="http://schemas.openxmlformats.org/drawingml/2006/main">
            <a:r>
              <a:t>Dadurch laufen dieselben Regeln nativ in Rust-Tests und im echten Browser-E2E-Pfad.</a:t>
            </a:r>
          </a:p>
          <a:p xmlns:a="http://schemas.openxmlformats.org/drawingml/2006/main">
            <a:r>
              <a:t>Zeit: 1:10–1:45.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zur Caesar-Seite wechseln: Schlüssel 3, Eingabe ABC äöü, verschlüsseln und zurück.</a:t>
            </a:r>
          </a:p>
          <a:p xmlns:a="http://schemas.openxmlformats.org/drawingml/2006/main">
            <a:r>
              <a:t>Kurz erklären: Nicht-ASCII-Zeichen bleiben laut dokumentierter Regel unverändert.</a:t>
            </a:r>
          </a:p>
          <a:p xmlns:a="http://schemas.openxmlformats.org/drawingml/2006/main">
            <a:r>
              <a:t>Danach direkt AES öffnen; Skytale und Substitution nicht live zeigen.</a:t>
            </a:r>
          </a:p>
          <a:p xmlns:a="http://schemas.openxmlformats.org/drawingml/2006/main">
            <a:r>
              <a:t>Zeit: 1:45–2:20.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Live: Schlüssel erzeugen, vorbereiteten Unicode-/Mehrzeilentext verschlüsseln und entschlüsseln.</a:t>
            </a:r>
          </a:p>
          <a:p xmlns:a="http://schemas.openxmlformats.org/drawingml/2006/main">
            <a:r>
              <a:t>Nonce ist pro Verschlüsselung nötig; der Tag prüft Integrität und Authentizität.</a:t>
            </a:r>
          </a:p>
          <a:p xmlns:a="http://schemas.openxmlformats.org/drawingml/2006/main">
            <a:r>
              <a:t>Dann ein Zeichen im Tag ändern. Erwartung: verständlicher Fehler und keine Klartextausgabe.</a:t>
            </a:r>
          </a:p>
          <a:p xmlns:a="http://schemas.openxmlformats.org/drawingml/2006/main">
            <a:r>
              <a:t>Screenshot ist der geprüfte Offline-Fallback.</a:t>
            </a:r>
          </a:p>
          <a:p xmlns:a="http://schemas.openxmlformats.org/drawingml/2006/main">
            <a:r>
              <a:t>Zeit: 2:20–3:50.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Key32, Nonce12 und AuthTag16 kapseln Größenprüfungen und verhindern verteilte Stringvalidierung.</a:t>
            </a:r>
          </a:p>
          <a:p xmlns:a="http://schemas.openxmlformats.org/drawingml/2006/main">
            <a:r>
              <a:t>CryptoError trennt Eingabe-, Encoding- und Authentifizierungsfehler.</a:t>
            </a:r>
          </a:p>
          <a:p xmlns:a="http://schemas.openxmlformats.org/drawingml/2006/main">
            <a:r>
              <a:t>Moderne Primitive werden nicht selbst implementiert; NIST- und RFC-Vektoren prüfen die Einbindung.</a:t>
            </a:r>
          </a:p>
          <a:p xmlns:a="http://schemas.openxmlformats.org/drawingml/2006/main">
            <a:r>
              <a:t>Zeit: 3:50–4:40.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Nicht nur Tests nennen, sondern die Testebenen erklären: bekannte Vektoren, Negativfälle, reale Browserflows und WCAG.</a:t>
            </a:r>
          </a:p>
          <a:p xmlns:a="http://schemas.openxmlformats.org/drawingml/2006/main">
            <a:r>
              <a:t>Coverage ist hoch, aber kein Sicherheitsbeweis; sie ergänzt die fachlich gewählten Fälle.</a:t>
            </a:r>
          </a:p>
          <a:p xmlns:a="http://schemas.openxmlformats.org/drawingml/2006/main">
            <a:r>
              <a:t>Lighthouse erreichte auf Startseite und AES jeweils 100 in allen vier Kategorien.</a:t>
            </a:r>
          </a:p>
          <a:p xmlns:a="http://schemas.openxmlformats.org/drawingml/2006/main">
            <a:r>
              <a:t>Zeit: 4:40–5:30.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KI half bei Struktur, Reviews, Tests und Dokumentation, aber Vorschläge wurden nie ungeprüft übernommen.</a:t>
            </a:r>
          </a:p>
          <a:p xmlns:a="http://schemas.openxmlformats.org/drawingml/2006/main">
            <a:r>
              <a:t>Zwei konkrete Korrekturen nennen: Toolchain-Pin und Coverage-Fallback oder Lighthouse-Runner.</a:t>
            </a:r>
          </a:p>
          <a:p xmlns:a="http://schemas.openxmlformats.org/drawingml/2006/main">
            <a:r>
              <a:t>Grenzen offen benennen: Lehrdemo, sichtbare Schlüssel, keine Persistenz, kein Sicherheitsaudit.</a:t>
            </a:r>
          </a:p>
          <a:p xmlns:a="http://schemas.openxmlformats.org/drawingml/2006/main">
            <a:r>
              <a:t>Zeit: 5:30–6:45.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Schlusssatz: Eine einzige Fachlogik, eine kleine WASM-Grenze und ausführbare Qualitätsnachweise machen das Projekt nachvollziehbar.</a:t>
            </a:r>
          </a:p>
          <a:p xmlns:a="http://schemas.openxmlformats.org/drawingml/2006/main">
            <a:r>
              <a:t>Zur Fragerunde überleiten.</a:t>
            </a:r>
          </a:p>
          <a:p xmlns:a="http://schemas.openxmlformats.org/drawingml/2006/main">
            <a:r>
              <a:t>Zeit: 6:45–7:00.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64eab2bbce4e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2c49901fbc4256" /><Relationship Type="http://schemas.openxmlformats.org/officeDocument/2006/relationships/slideLayout" Target="/ppt/slideLayouts/slideLayout1.xml" Id="R8ab9d9ac1a9846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b9d9ac1a9846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ryptographie Cyber">
      <a:dk1>
        <a:srgbClr val="000000"/>
      </a:dk1>
      <a:lt1>
        <a:srgbClr val="FFFFFF"/>
      </a:lt1>
      <a:dk2>
        <a:srgbClr val="10243A"/>
      </a:dk2>
      <a:lt2>
        <a:srgbClr val="E2E8F0"/>
      </a:lt2>
      <a:accent1>
        <a:srgbClr val="2DD4BF"/>
      </a:accent1>
      <a:accent2>
        <a:srgbClr val="F43F8A"/>
      </a:accent2>
      <a:accent3>
        <a:srgbClr val="FBBF24"/>
      </a:accent3>
      <a:accent4>
        <a:srgbClr val="34D399"/>
      </a:accent4>
      <a:accent5>
        <a:srgbClr val="8B5CF6"/>
      </a:accent5>
      <a:accent6>
        <a:srgbClr val="FB7185"/>
      </a:accent6>
      <a:hlink>
        <a:srgbClr val="2DD4BF"/>
      </a:hlink>
      <a:folHlink>
        <a:srgbClr val="F43F8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ryptographie Cyber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994fb38f640d9" /><Relationship Type="http://schemas.openxmlformats.org/officeDocument/2006/relationships/notesSlide" Target="/ppt/notesSlides/notesSlide1.xml" Id="Rdf11994f234549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2e75dcf9f4cad" /><Relationship Type="http://schemas.openxmlformats.org/officeDocument/2006/relationships/notesSlide" Target="/ppt/notesSlides/notesSlide2.xml" Id="R2566b7ef92bc42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2b7dcbe064e82" /><Relationship Type="http://schemas.openxmlformats.org/officeDocument/2006/relationships/notesSlide" Target="/ppt/notesSlides/notesSlide3.xml" Id="Re2fc905902404e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aea41ee7e4a69" /><Relationship Type="http://schemas.openxmlformats.org/officeDocument/2006/relationships/image" Target="/ppt/media/image.jpeg" Id="R91d0bbdc75ac4055" /><Relationship Type="http://schemas.openxmlformats.org/officeDocument/2006/relationships/notesSlide" Target="/ppt/notesSlides/notesSlide4.xml" Id="R0e36fbadb21c48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464776f3a47c1" /><Relationship Type="http://schemas.openxmlformats.org/officeDocument/2006/relationships/image" Target="/ppt/media/image2.jpeg" Id="R7f04888a2d784d23" /><Relationship Type="http://schemas.openxmlformats.org/officeDocument/2006/relationships/notesSlide" Target="/ppt/notesSlides/notesSlide5.xml" Id="Rbeb4842becb948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76421153c4fe4" /><Relationship Type="http://schemas.openxmlformats.org/officeDocument/2006/relationships/notesSlide" Target="/ppt/notesSlides/notesSlide6.xml" Id="Rc5dacc8f21a742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c5c4fdee64a0e" /><Relationship Type="http://schemas.openxmlformats.org/officeDocument/2006/relationships/notesSlide" Target="/ppt/notesSlides/notesSlide7.xml" Id="R85ecda9ca4f94c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ee8bd230a4d81" /><Relationship Type="http://schemas.openxmlformats.org/officeDocument/2006/relationships/notesSlide" Target="/ppt/notesSlides/notesSlide8.xml" Id="R2e0f009c0e2148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f373adee54ce0" /><Relationship Type="http://schemas.openxmlformats.org/officeDocument/2006/relationships/notesSlide" Target="/ppt/notesSlides/notesSlide9.xml" Id="R64dd15cc03914f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57A002B-5A9C-49DE-A05F-DD955169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FORTGESCHRITTENE PROGRAMMIERUNG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E3EE6A6-E3E6-4161-B05C-81B7172E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6000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20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Kryptographie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20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im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92E7D-C8AB-40F4-867F-872368EA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43F8A"/>
            </a:solidFill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C8A179D-FB41-409F-85E4-C005BEE7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561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Fünf Verfahren. Eine Rust-Fachlogik.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Eine kleine WebAssembly-Grenze.</a:t>
            </a:r>
          </a:p>
        </p:txBody>
      </p:sp>
      <p:sp>
        <p:nvSpPr>
          <p:cNvPr id="5" name="cover-orbit">
            <a:extLst xmlns:a="http://schemas.openxmlformats.org/drawingml/2006/main">
              <a:ext uri="{FF2B5EF4-FFF2-40B4-BE49-F238E27FC236}">
                <a16:creationId xmlns:a16="http://schemas.microsoft.com/office/drawing/2014/main" id="{8CDB5AAA-DEAB-4F5A-B20F-3E44801A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096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A2C"/>
          </a:solidFill>
          <a:ln xmlns:a="http://schemas.openxmlformats.org/drawingml/2006/main" w="28575">
            <a:solidFill>
              <a:srgbClr val="2DD4BF"/>
            </a:solidFill>
            <a:prstDash val="solid"/>
          </a:ln>
        </p:spPr>
      </p:sp>
      <p:sp>
        <p:nvSpPr>
          <p:cNvPr id="6" name="cover-orbit-inner">
            <a:extLst xmlns:a="http://schemas.openxmlformats.org/drawingml/2006/main">
              <a:ext uri="{FF2B5EF4-FFF2-40B4-BE49-F238E27FC236}">
                <a16:creationId xmlns:a16="http://schemas.microsoft.com/office/drawing/2014/main" id="{0AC55190-1BFB-4B90-9F35-00A00000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38300"/>
            <a:ext cx="2171700" cy="217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28575">
            <a:solidFill>
              <a:srgbClr val="F43F8A"/>
            </a:solidFill>
            <a:prstDash val="solid"/>
          </a:ln>
        </p:spPr>
      </p:sp>
      <p:sp>
        <p:nvSpPr>
          <p:cNvPr id="7" name="cover-wasm">
            <a:extLst xmlns:a="http://schemas.openxmlformats.org/drawingml/2006/main">
              <a:ext uri="{FF2B5EF4-FFF2-40B4-BE49-F238E27FC236}">
                <a16:creationId xmlns:a16="http://schemas.microsoft.com/office/drawing/2014/main" id="{FBC367FC-5942-44E1-A201-9D4E46BD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1790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WASM</a:t>
            </a:r>
          </a:p>
        </p:txBody>
      </p:sp>
      <p:sp>
        <p:nvSpPr>
          <p:cNvPr id="8" name="cover-rust">
            <a:extLst xmlns:a="http://schemas.openxmlformats.org/drawingml/2006/main">
              <a:ext uri="{FF2B5EF4-FFF2-40B4-BE49-F238E27FC236}">
                <a16:creationId xmlns:a16="http://schemas.microsoft.com/office/drawing/2014/main" id="{DB544468-BFC6-40FD-9C29-74E60D3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57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RUST</a:t>
            </a:r>
          </a:p>
        </p:txBody>
      </p:sp>
      <p:sp>
        <p:nvSpPr>
          <p:cNvPr id="9" name="cover-algos-1">
            <a:extLst xmlns:a="http://schemas.openxmlformats.org/drawingml/2006/main">
              <a:ext uri="{FF2B5EF4-FFF2-40B4-BE49-F238E27FC236}">
                <a16:creationId xmlns:a16="http://schemas.microsoft.com/office/drawing/2014/main" id="{D610EA79-7DFE-4A8C-9F7B-BE936EF6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86300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CAESAR</a:t>
            </a:r>
          </a:p>
        </p:txBody>
      </p:sp>
      <p:sp>
        <p:nvSpPr>
          <p:cNvPr id="10" name="cover-algos-2">
            <a:extLst xmlns:a="http://schemas.openxmlformats.org/drawingml/2006/main">
              <a:ext uri="{FF2B5EF4-FFF2-40B4-BE49-F238E27FC236}">
                <a16:creationId xmlns:a16="http://schemas.microsoft.com/office/drawing/2014/main" id="{058C0507-9A1A-4C32-8533-D65D166F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86300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SKYTALE</a:t>
            </a:r>
          </a:p>
        </p:txBody>
      </p:sp>
      <p:sp>
        <p:nvSpPr>
          <p:cNvPr id="11" name="cover-algos-3">
            <a:extLst xmlns:a="http://schemas.openxmlformats.org/drawingml/2006/main">
              <a:ext uri="{FF2B5EF4-FFF2-40B4-BE49-F238E27FC236}">
                <a16:creationId xmlns:a16="http://schemas.microsoft.com/office/drawing/2014/main" id="{3EC0D84E-2BF0-44E6-B9F4-8403032E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686300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AES-GCM</a:t>
            </a:r>
          </a:p>
        </p:txBody>
      </p:sp>
      <p:sp>
        <p:nvSpPr>
          <p:cNvPr id="12" name="cover-algos-4">
            <a:extLst xmlns:a="http://schemas.openxmlformats.org/drawingml/2006/main">
              <a:ext uri="{FF2B5EF4-FFF2-40B4-BE49-F238E27FC236}">
                <a16:creationId xmlns:a16="http://schemas.microsoft.com/office/drawing/2014/main" id="{55C67F01-2762-45D5-8D7C-C7FBD39A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4350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SUBSTITUTION</a:t>
            </a:r>
          </a:p>
        </p:txBody>
      </p:sp>
      <p:sp>
        <p:nvSpPr>
          <p:cNvPr id="13" name="cover-algos-5">
            <a:extLst xmlns:a="http://schemas.openxmlformats.org/drawingml/2006/main">
              <a:ext uri="{FF2B5EF4-FFF2-40B4-BE49-F238E27FC236}">
                <a16:creationId xmlns:a16="http://schemas.microsoft.com/office/drawing/2014/main" id="{FA3C8878-03E9-4403-969A-09E1E102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4350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CHACHA20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DD226-7F39-4CB6-BAAE-9E55C445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15" name="cover-team">
            <a:extLst xmlns:a="http://schemas.openxmlformats.org/drawingml/2006/main">
              <a:ext uri="{FF2B5EF4-FFF2-40B4-BE49-F238E27FC236}">
                <a16:creationId xmlns:a16="http://schemas.microsoft.com/office/drawing/2014/main" id="{F1784D97-D5EC-4DFF-A134-367ACC60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David Lindgreen · Viktor Edelmann</a:t>
            </a:r>
          </a:p>
        </p:txBody>
      </p:sp>
      <p:sp>
        <p:nvSpPr>
          <p:cNvPr id="16" name="cover-meta">
            <a:extLst xmlns:a="http://schemas.openxmlformats.org/drawingml/2006/main">
              <a:ext uri="{FF2B5EF4-FFF2-40B4-BE49-F238E27FC236}">
                <a16:creationId xmlns:a16="http://schemas.microsoft.com/office/drawing/2014/main" id="{514A16AB-EE72-44CF-A0CC-BF2BF424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1722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Version 1.2.0 · 23.08.2026</a:t>
            </a:r>
          </a:p>
        </p:txBody>
      </p:sp>
    </p:spTree>
    <p:extLst>
      <p:ext uri="{BB962C8B-B14F-4D97-AF65-F5344CB8AC3E}">
        <p14:creationId xmlns:p14="http://schemas.microsoft.com/office/powerpoint/2010/main" val="17258310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ection-2">
            <a:extLst xmlns:a="http://schemas.openxmlformats.org/drawingml/2006/main">
              <a:ext uri="{FF2B5EF4-FFF2-40B4-BE49-F238E27FC236}">
                <a16:creationId xmlns:a16="http://schemas.microsoft.com/office/drawing/2014/main" id="{025B9A4C-A510-44BF-853D-A3AB9F81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PROBLEM &amp; UMFANG</a:t>
            </a:r>
          </a:p>
        </p:txBody>
      </p:sp>
      <p:sp>
        <p:nvSpPr>
          <p:cNvPr id="2" name="index-2">
            <a:extLst xmlns:a="http://schemas.openxmlformats.org/drawingml/2006/main">
              <a:ext uri="{FF2B5EF4-FFF2-40B4-BE49-F238E27FC236}">
                <a16:creationId xmlns:a16="http://schemas.microsoft.com/office/drawing/2014/main" id="{5BA3FC2F-B812-4322-8E16-B92CD9EA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B07E6-B2D1-4270-8772-A4BB6396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5D1C3339-821B-4C2B-B6E5-F3F1A829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14829F85-97A9-4E2C-866D-45FA420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Historische Ideen treffen moderne Integrität</a:t>
            </a:r>
          </a:p>
        </p:txBody>
      </p:sp>
      <p:sp>
        <p:nvSpPr>
          <p:cNvPr id="6" name="subtitle-2">
            <a:extLst xmlns:a="http://schemas.openxmlformats.org/drawingml/2006/main">
              <a:ext uri="{FF2B5EF4-FFF2-40B4-BE49-F238E27FC236}">
                <a16:creationId xmlns:a16="http://schemas.microsoft.com/office/drawing/2014/main" id="{540AF3B1-CB6E-48FA-975A-78BE5061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Die Oberfläche macht Unterschiede sichtbar; Rust hält Regeln und Fehler konsistent.</a:t>
            </a:r>
          </a:p>
        </p:txBody>
      </p:sp>
      <p:sp>
        <p:nvSpPr>
          <p:cNvPr id="7" name="scope-historical">
            <a:extLst xmlns:a="http://schemas.openxmlformats.org/drawingml/2006/main">
              <a:ext uri="{FF2B5EF4-FFF2-40B4-BE49-F238E27FC236}">
                <a16:creationId xmlns:a16="http://schemas.microsoft.com/office/drawing/2014/main" id="{8F59BDD4-5794-4CB5-9F8D-2787A09A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HISTORISCHE LERNVERFAHREN</a:t>
            </a:r>
          </a:p>
        </p:txBody>
      </p:sp>
      <p:sp>
        <p:nvSpPr>
          <p:cNvPr id="8" name="scope-caesar">
            <a:extLst xmlns:a="http://schemas.openxmlformats.org/drawingml/2006/main">
              <a:ext uri="{FF2B5EF4-FFF2-40B4-BE49-F238E27FC236}">
                <a16:creationId xmlns:a16="http://schemas.microsoft.com/office/drawing/2014/main" id="{F089A529-1012-40FA-893F-5150A1B6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524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9" name="scope-caesar-title">
            <a:extLst xmlns:a="http://schemas.openxmlformats.org/drawingml/2006/main">
              <a:ext uri="{FF2B5EF4-FFF2-40B4-BE49-F238E27FC236}">
                <a16:creationId xmlns:a16="http://schemas.microsoft.com/office/drawing/2014/main" id="{676CCAD6-A536-4980-A9DE-63701E20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18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Caesar</a:t>
            </a:r>
          </a:p>
        </p:txBody>
      </p:sp>
      <p:sp>
        <p:nvSpPr>
          <p:cNvPr id="10" name="scope-caesar-era">
            <a:extLst xmlns:a="http://schemas.openxmlformats.org/drawingml/2006/main">
              <a:ext uri="{FF2B5EF4-FFF2-40B4-BE49-F238E27FC236}">
                <a16:creationId xmlns:a16="http://schemas.microsoft.com/office/drawing/2014/main" id="{1353021D-320B-41DE-9B2E-0B460C8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Buchstabenverschiebung</a:t>
            </a:r>
          </a:p>
        </p:txBody>
      </p:sp>
      <p:sp>
        <p:nvSpPr>
          <p:cNvPr id="11" name="scope-skytale">
            <a:extLst xmlns:a="http://schemas.openxmlformats.org/drawingml/2006/main">
              <a:ext uri="{FF2B5EF4-FFF2-40B4-BE49-F238E27FC236}">
                <a16:creationId xmlns:a16="http://schemas.microsoft.com/office/drawing/2014/main" id="{644D867A-FD79-4B95-B073-5930BE1B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52700"/>
            <a:ext cx="1524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12" name="scope-skytale-title">
            <a:extLst xmlns:a="http://schemas.openxmlformats.org/drawingml/2006/main">
              <a:ext uri="{FF2B5EF4-FFF2-40B4-BE49-F238E27FC236}">
                <a16:creationId xmlns:a16="http://schemas.microsoft.com/office/drawing/2014/main" id="{434490F6-7879-453E-B260-40F11EC0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14625"/>
            <a:ext cx="118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Skytale</a:t>
            </a:r>
          </a:p>
        </p:txBody>
      </p:sp>
      <p:sp>
        <p:nvSpPr>
          <p:cNvPr id="13" name="scope-skytale-era">
            <a:extLst xmlns:a="http://schemas.openxmlformats.org/drawingml/2006/main">
              <a:ext uri="{FF2B5EF4-FFF2-40B4-BE49-F238E27FC236}">
                <a16:creationId xmlns:a16="http://schemas.microsoft.com/office/drawing/2014/main" id="{7FFFE368-7AFF-4A5E-873C-6ECD40DC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0765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Transposition</a:t>
            </a:r>
          </a:p>
        </p:txBody>
      </p:sp>
      <p:sp>
        <p:nvSpPr>
          <p:cNvPr id="14" name="scope-substitution">
            <a:extLst xmlns:a="http://schemas.openxmlformats.org/drawingml/2006/main">
              <a:ext uri="{FF2B5EF4-FFF2-40B4-BE49-F238E27FC236}">
                <a16:creationId xmlns:a16="http://schemas.microsoft.com/office/drawing/2014/main" id="{6FC17B34-BFEE-42B7-B9F3-ED333BD1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52700"/>
            <a:ext cx="1695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15" name="scope-substitution-title">
            <a:extLst xmlns:a="http://schemas.openxmlformats.org/drawingml/2006/main">
              <a:ext uri="{FF2B5EF4-FFF2-40B4-BE49-F238E27FC236}">
                <a16:creationId xmlns:a16="http://schemas.microsoft.com/office/drawing/2014/main" id="{112ABACD-9CED-4FF7-B97D-28FB612F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146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Substitution</a:t>
            </a:r>
          </a:p>
        </p:txBody>
      </p:sp>
      <p:sp>
        <p:nvSpPr>
          <p:cNvPr id="16" name="scope-substitution-era">
            <a:extLst xmlns:a="http://schemas.openxmlformats.org/drawingml/2006/main">
              <a:ext uri="{FF2B5EF4-FFF2-40B4-BE49-F238E27FC236}">
                <a16:creationId xmlns:a16="http://schemas.microsoft.com/office/drawing/2014/main" id="{B0EACFCB-74BF-492C-A3A0-F79CA70A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76575"/>
            <a:ext cx="1352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Permutation</a:t>
            </a:r>
          </a:p>
        </p:txBody>
      </p:sp>
      <p:sp>
        <p:nvSpPr>
          <p:cNvPr id="17" name="scope-modern">
            <a:extLst xmlns:a="http://schemas.openxmlformats.org/drawingml/2006/main">
              <a:ext uri="{FF2B5EF4-FFF2-40B4-BE49-F238E27FC236}">
                <a16:creationId xmlns:a16="http://schemas.microsoft.com/office/drawing/2014/main" id="{81E85FDB-1B68-475C-8406-0F804B19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33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MODERNE AEAD-VERFAHREN</a:t>
            </a:r>
          </a:p>
        </p:txBody>
      </p:sp>
      <p:sp>
        <p:nvSpPr>
          <p:cNvPr id="18" name="scope-aes">
            <a:extLst xmlns:a="http://schemas.openxmlformats.org/drawingml/2006/main">
              <a:ext uri="{FF2B5EF4-FFF2-40B4-BE49-F238E27FC236}">
                <a16:creationId xmlns:a16="http://schemas.microsoft.com/office/drawing/2014/main" id="{4FF8B67E-1F94-4C83-8FD3-3157519C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5270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19" name="scope-aes-title">
            <a:extLst xmlns:a="http://schemas.openxmlformats.org/drawingml/2006/main">
              <a:ext uri="{FF2B5EF4-FFF2-40B4-BE49-F238E27FC236}">
                <a16:creationId xmlns:a16="http://schemas.microsoft.com/office/drawing/2014/main" id="{E68FA6CD-8D16-426D-9BC9-F7B6EED6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14625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AES-256-GCM</a:t>
            </a:r>
          </a:p>
        </p:txBody>
      </p:sp>
      <p:sp>
        <p:nvSpPr>
          <p:cNvPr id="20" name="scope-aes-era">
            <a:extLst xmlns:a="http://schemas.openxmlformats.org/drawingml/2006/main">
              <a:ext uri="{FF2B5EF4-FFF2-40B4-BE49-F238E27FC236}">
                <a16:creationId xmlns:a16="http://schemas.microsoft.com/office/drawing/2014/main" id="{A41CD3CA-F257-4E5A-93B4-5B6882E8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7657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Verschlüsselung + Authentifizierung</a:t>
            </a:r>
          </a:p>
        </p:txBody>
      </p:sp>
      <p:sp>
        <p:nvSpPr>
          <p:cNvPr id="21" name="scope-chacha">
            <a:extLst xmlns:a="http://schemas.openxmlformats.org/drawingml/2006/main">
              <a:ext uri="{FF2B5EF4-FFF2-40B4-BE49-F238E27FC236}">
                <a16:creationId xmlns:a16="http://schemas.microsoft.com/office/drawing/2014/main" id="{7DE91FA9-E06A-472A-ADC5-AEAC56E7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5270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22" name="scope-chacha-title">
            <a:extLst xmlns:a="http://schemas.openxmlformats.org/drawingml/2006/main">
              <a:ext uri="{FF2B5EF4-FFF2-40B4-BE49-F238E27FC236}">
                <a16:creationId xmlns:a16="http://schemas.microsoft.com/office/drawing/2014/main" id="{C65D960E-844A-4155-A263-06F6F8DE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14625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ChaCha20</a:t>
            </a:r>
          </a:p>
        </p:txBody>
      </p:sp>
      <p:sp>
        <p:nvSpPr>
          <p:cNvPr id="23" name="scope-chacha-era">
            <a:extLst xmlns:a="http://schemas.openxmlformats.org/drawingml/2006/main">
              <a:ext uri="{FF2B5EF4-FFF2-40B4-BE49-F238E27FC236}">
                <a16:creationId xmlns:a16="http://schemas.microsoft.com/office/drawing/2014/main" id="{ECE0C851-AA60-4206-8A5E-1482C220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7657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Poly1305-Tag</a:t>
            </a:r>
          </a:p>
        </p:txBody>
      </p:sp>
      <p:sp>
        <p:nvSpPr>
          <p:cNvPr id="24" name="scope-goal">
            <a:extLst xmlns:a="http://schemas.openxmlformats.org/drawingml/2006/main">
              <a:ext uri="{FF2B5EF4-FFF2-40B4-BE49-F238E27FC236}">
                <a16:creationId xmlns:a16="http://schemas.microsoft.com/office/drawing/2014/main" id="{EE33E0D6-A35F-4EED-9B3F-1A4E53B0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5727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25" name="scope-goal-pill">
            <a:extLst xmlns:a="http://schemas.openxmlformats.org/drawingml/2006/main">
              <a:ext uri="{FF2B5EF4-FFF2-40B4-BE49-F238E27FC236}">
                <a16:creationId xmlns:a16="http://schemas.microsoft.com/office/drawing/2014/main" id="{81B35E18-77BF-4CC1-9544-F1B01DC4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LERNZIEL</a:t>
            </a:r>
          </a:p>
        </p:txBody>
      </p:sp>
      <p:sp>
        <p:nvSpPr>
          <p:cNvPr id="26" name="scope-goal-text">
            <a:extLst xmlns:a="http://schemas.openxmlformats.org/drawingml/2006/main">
              <a:ext uri="{FF2B5EF4-FFF2-40B4-BE49-F238E27FC236}">
                <a16:creationId xmlns:a16="http://schemas.microsoft.com/office/drawing/2014/main" id="{8F1CD4F5-DCD5-4A79-B661-82469B55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Ver- und Entschlüsseln nachvollziehen, Eingaben sicher validieren und bei modernen Verfahren Manipulation zuverlässig erkennen.</a:t>
            </a:r>
          </a:p>
        </p:txBody>
      </p:sp>
      <p:sp>
        <p:nvSpPr>
          <p:cNvPr id="27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D1BC4366-60C3-44BB-9F67-DAC4AD88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76900"/>
            <a:ext cx="4229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KEIN BACKEND · KEINE DATENBANK · LOKALE VERARBEITUNG</a:t>
            </a:r>
          </a:p>
        </p:txBody>
      </p:sp>
    </p:spTree>
    <p:extLst>
      <p:ext uri="{BB962C8B-B14F-4D97-AF65-F5344CB8AC3E}">
        <p14:creationId xmlns:p14="http://schemas.microsoft.com/office/powerpoint/2010/main" val="271560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ection-3">
            <a:extLst xmlns:a="http://schemas.openxmlformats.org/drawingml/2006/main">
              <a:ext uri="{FF2B5EF4-FFF2-40B4-BE49-F238E27FC236}">
                <a16:creationId xmlns:a16="http://schemas.microsoft.com/office/drawing/2014/main" id="{0C12F3F5-63C5-4AF0-8FC0-DFBB2E2C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ARCHITEKTUR</a:t>
            </a:r>
          </a:p>
        </p:txBody>
      </p:sp>
      <p:sp>
        <p:nvSpPr>
          <p:cNvPr id="2" name="index-3">
            <a:extLst xmlns:a="http://schemas.openxmlformats.org/drawingml/2006/main">
              <a:ext uri="{FF2B5EF4-FFF2-40B4-BE49-F238E27FC236}">
                <a16:creationId xmlns:a16="http://schemas.microsoft.com/office/drawing/2014/main" id="{F7917AC0-AA8E-4E9D-8C9B-B7F39240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3A2EB-3DDB-45C3-B4FD-55894637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9311C9F-5EB7-4DEB-8326-92155393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DBAB27B1-97E9-433F-8EB5-5320688E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Eine Richtung, eine Fachlogik</a:t>
            </a:r>
          </a:p>
        </p:txBody>
      </p:sp>
      <p:sp>
        <p:nvSpPr>
          <p:cNvPr id="6" name="subtitle-3">
            <a:extLst xmlns:a="http://schemas.openxmlformats.org/drawingml/2006/main">
              <a:ext uri="{FF2B5EF4-FFF2-40B4-BE49-F238E27FC236}">
                <a16:creationId xmlns:a16="http://schemas.microsoft.com/office/drawing/2014/main" id="{EA783860-5475-4BA0-A06B-19D89D86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Die Browseroberfläche bleibt austauschbar; Rust bleibt nativ testbar.</a:t>
            </a:r>
          </a:p>
        </p:txBody>
      </p:sp>
      <p:sp>
        <p:nvSpPr>
          <p:cNvPr id="7" name="arch-card-0">
            <a:extLst xmlns:a="http://schemas.openxmlformats.org/drawingml/2006/main">
              <a:ext uri="{FF2B5EF4-FFF2-40B4-BE49-F238E27FC236}">
                <a16:creationId xmlns:a16="http://schemas.microsoft.com/office/drawing/2014/main" id="{119760BE-B07D-41E5-93FA-398A21F3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7716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8" name="arch-card-title-0">
            <a:extLst xmlns:a="http://schemas.openxmlformats.org/drawingml/2006/main">
              <a:ext uri="{FF2B5EF4-FFF2-40B4-BE49-F238E27FC236}">
                <a16:creationId xmlns:a16="http://schemas.microsoft.com/office/drawing/2014/main" id="{96B8B9AF-94FC-452B-8282-DDA3483C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Benutzer</a:t>
            </a:r>
          </a:p>
        </p:txBody>
      </p:sp>
      <p:sp>
        <p:nvSpPr>
          <p:cNvPr id="9" name="arch-card-detail-0">
            <a:extLst xmlns:a="http://schemas.openxmlformats.org/drawingml/2006/main">
              <a:ext uri="{FF2B5EF4-FFF2-40B4-BE49-F238E27FC236}">
                <a16:creationId xmlns:a16="http://schemas.microsoft.com/office/drawing/2014/main" id="{C7B390B1-8466-4A79-9F5C-0B6B7276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Eingabe &amp; Aktion</a:t>
            </a:r>
          </a:p>
        </p:txBody>
      </p:sp>
      <p:sp>
        <p:nvSpPr>
          <p:cNvPr id="10" name="arch-card-1">
            <a:extLst xmlns:a="http://schemas.openxmlformats.org/drawingml/2006/main">
              <a:ext uri="{FF2B5EF4-FFF2-40B4-BE49-F238E27FC236}">
                <a16:creationId xmlns:a16="http://schemas.microsoft.com/office/drawing/2014/main" id="{BA3E9209-652B-42A4-8D9D-AB9CB6DB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81250"/>
            <a:ext cx="17716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11" name="arch-card-title-1">
            <a:extLst xmlns:a="http://schemas.openxmlformats.org/drawingml/2006/main">
              <a:ext uri="{FF2B5EF4-FFF2-40B4-BE49-F238E27FC236}">
                <a16:creationId xmlns:a16="http://schemas.microsoft.com/office/drawing/2014/main" id="{46496AD1-A0E5-42EC-A96C-7E42BF6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908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HTML / CSS</a:t>
            </a:r>
          </a:p>
        </p:txBody>
      </p:sp>
      <p:sp>
        <p:nvSpPr>
          <p:cNvPr id="12" name="arch-card-detail-1">
            <a:extLst xmlns:a="http://schemas.openxmlformats.org/drawingml/2006/main">
              <a:ext uri="{FF2B5EF4-FFF2-40B4-BE49-F238E27FC236}">
                <a16:creationId xmlns:a16="http://schemas.microsoft.com/office/drawing/2014/main" id="{2FE3FD8C-6E13-423E-8794-DD31E8B2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480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Semantik &amp; UX</a:t>
            </a:r>
          </a:p>
        </p:txBody>
      </p:sp>
      <p:sp>
        <p:nvSpPr>
          <p:cNvPr id="13" name="arch-card-2">
            <a:extLst xmlns:a="http://schemas.openxmlformats.org/drawingml/2006/main">
              <a:ext uri="{FF2B5EF4-FFF2-40B4-BE49-F238E27FC236}">
                <a16:creationId xmlns:a16="http://schemas.microsoft.com/office/drawing/2014/main" id="{EED20229-757F-4500-808C-AF06B8BE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81250"/>
            <a:ext cx="17716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BBF24"/>
            </a:solidFill>
            <a:prstDash val="solid"/>
          </a:ln>
        </p:spPr>
      </p:sp>
      <p:sp>
        <p:nvSpPr>
          <p:cNvPr id="14" name="arch-card-title-2">
            <a:extLst xmlns:a="http://schemas.openxmlformats.org/drawingml/2006/main">
              <a:ext uri="{FF2B5EF4-FFF2-40B4-BE49-F238E27FC236}">
                <a16:creationId xmlns:a16="http://schemas.microsoft.com/office/drawing/2014/main" id="{233D7B01-3D46-4828-B90B-744A4C61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908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JavaScript</a:t>
            </a:r>
          </a:p>
        </p:txBody>
      </p:sp>
      <p:sp>
        <p:nvSpPr>
          <p:cNvPr id="15" name="arch-card-detail-2">
            <a:extLst xmlns:a="http://schemas.openxmlformats.org/drawingml/2006/main">
              <a:ext uri="{FF2B5EF4-FFF2-40B4-BE49-F238E27FC236}">
                <a16:creationId xmlns:a16="http://schemas.microsoft.com/office/drawing/2014/main" id="{5C83B2CF-22E0-46C1-A63B-E82B8C5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80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BBF24"/>
                </a:solidFill>
                <a:latin typeface="Aptos"/>
                <a:ea typeface="Aptos"/>
                <a:cs typeface="Aptos"/>
              </a:rPr>
              <a:t>DOM &amp; Zustände</a:t>
            </a:r>
          </a:p>
        </p:txBody>
      </p:sp>
      <p:sp>
        <p:nvSpPr>
          <p:cNvPr id="16" name="arch-card-3">
            <a:extLst xmlns:a="http://schemas.openxmlformats.org/drawingml/2006/main">
              <a:ext uri="{FF2B5EF4-FFF2-40B4-BE49-F238E27FC236}">
                <a16:creationId xmlns:a16="http://schemas.microsoft.com/office/drawing/2014/main" id="{F8914A04-793F-4D38-BC2E-93060A66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81250"/>
            <a:ext cx="17716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17" name="arch-card-title-3">
            <a:extLst xmlns:a="http://schemas.openxmlformats.org/drawingml/2006/main">
              <a:ext uri="{FF2B5EF4-FFF2-40B4-BE49-F238E27FC236}">
                <a16:creationId xmlns:a16="http://schemas.microsoft.com/office/drawing/2014/main" id="{3FC8B4BC-AD75-4BF0-86E5-BCD594A1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908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WASM</a:t>
            </a:r>
          </a:p>
        </p:txBody>
      </p:sp>
      <p:sp>
        <p:nvSpPr>
          <p:cNvPr id="18" name="arch-card-detail-3">
            <a:extLst xmlns:a="http://schemas.openxmlformats.org/drawingml/2006/main">
              <a:ext uri="{FF2B5EF4-FFF2-40B4-BE49-F238E27FC236}">
                <a16:creationId xmlns:a16="http://schemas.microsoft.com/office/drawing/2014/main" id="{4AFB7ED6-E064-4953-97E9-43969159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480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16 Exports</a:t>
            </a:r>
          </a:p>
        </p:txBody>
      </p:sp>
      <p:sp>
        <p:nvSpPr>
          <p:cNvPr id="19" name="arch-card-4">
            <a:extLst xmlns:a="http://schemas.openxmlformats.org/drawingml/2006/main">
              <a:ext uri="{FF2B5EF4-FFF2-40B4-BE49-F238E27FC236}">
                <a16:creationId xmlns:a16="http://schemas.microsoft.com/office/drawing/2014/main" id="{C2DC6DCC-610F-4B2D-B073-D46DD8F9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17716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20" name="arch-card-title-4">
            <a:extLst xmlns:a="http://schemas.openxmlformats.org/drawingml/2006/main">
              <a:ext uri="{FF2B5EF4-FFF2-40B4-BE49-F238E27FC236}">
                <a16:creationId xmlns:a16="http://schemas.microsoft.com/office/drawing/2014/main" id="{31CB1920-790D-41EB-BF06-DB953375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908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RustCrypto</a:t>
            </a:r>
          </a:p>
        </p:txBody>
      </p:sp>
      <p:sp>
        <p:nvSpPr>
          <p:cNvPr id="21" name="arch-card-detail-4">
            <a:extLst xmlns:a="http://schemas.openxmlformats.org/drawingml/2006/main">
              <a:ext uri="{FF2B5EF4-FFF2-40B4-BE49-F238E27FC236}">
                <a16:creationId xmlns:a16="http://schemas.microsoft.com/office/drawing/2014/main" id="{1294F3A3-3059-44EE-923A-B4990135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Fachlogik</a:t>
            </a:r>
          </a:p>
        </p:txBody>
      </p:sp>
      <p:cxnSp>
        <p:nvCxnSpPr>
          <p:cNvPr id="57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381250" y="29813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3F8A"/>
            </a:solidFill>
            <a:prstDash val="solid"/>
            <a:tailEnd type="triangle" w="sm" len="sm"/>
          </a:ln>
        </p:spPr>
      </p:cxnSp>
      <p:cxnSp>
        <p:nvCxnSpPr>
          <p:cNvPr id="58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533900" y="29813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3F8A"/>
            </a:solidFill>
            <a:prstDash val="solid"/>
            <a:tailEnd type="triangle" w="sm" len="sm"/>
          </a:ln>
        </p:spPr>
      </p:cxnSp>
      <p:cxnSp>
        <p:nvCxnSpPr>
          <p:cNvPr id="59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686550" y="29813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D4BF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839200" y="29813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D4BF"/>
            </a:solidFill>
            <a:prstDash val="solid"/>
            <a:tailEnd type="triangle" w="sm" len="sm"/>
          </a:ln>
        </p:spPr>
      </p:cxnSp>
      <p:sp>
        <p:nvSpPr>
          <p:cNvPr id="26" name="arch-principle">
            <a:extLst xmlns:a="http://schemas.openxmlformats.org/drawingml/2006/main">
              <a:ext uri="{FF2B5EF4-FFF2-40B4-BE49-F238E27FC236}">
                <a16:creationId xmlns:a16="http://schemas.microsoft.com/office/drawing/2014/main" id="{7531A521-342C-4CE7-B68C-0F59E224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27" name="arch-bullet-1-dot">
            <a:extLst xmlns:a="http://schemas.openxmlformats.org/drawingml/2006/main">
              <a:ext uri="{FF2B5EF4-FFF2-40B4-BE49-F238E27FC236}">
                <a16:creationId xmlns:a16="http://schemas.microsoft.com/office/drawing/2014/main" id="{E10CBBD7-B9F4-4FBE-8728-21C05623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9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8" name="arch-bullet-1">
            <a:extLst xmlns:a="http://schemas.openxmlformats.org/drawingml/2006/main">
              <a:ext uri="{FF2B5EF4-FFF2-40B4-BE49-F238E27FC236}">
                <a16:creationId xmlns:a16="http://schemas.microsoft.com/office/drawing/2014/main" id="{452AD6B6-6669-4C7C-8E18-9C4B7AAD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43400"/>
            <a:ext cx="4648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JavaScript orchestriert – es implementiert keine Kryptographie doppelt.</a:t>
            </a:r>
          </a:p>
        </p:txBody>
      </p:sp>
      <p:sp>
        <p:nvSpPr>
          <p:cNvPr id="29" name="arch-bullet-2-dot">
            <a:extLst xmlns:a="http://schemas.openxmlformats.org/drawingml/2006/main">
              <a:ext uri="{FF2B5EF4-FFF2-40B4-BE49-F238E27FC236}">
                <a16:creationId xmlns:a16="http://schemas.microsoft.com/office/drawing/2014/main" id="{AE4BA410-6EF1-4EF3-8102-E274414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  <p:sp>
        <p:nvSpPr>
          <p:cNvPr id="30" name="arch-bullet-2">
            <a:extLst xmlns:a="http://schemas.openxmlformats.org/drawingml/2006/main">
              <a:ext uri="{FF2B5EF4-FFF2-40B4-BE49-F238E27FC236}">
                <a16:creationId xmlns:a16="http://schemas.microsoft.com/office/drawing/2014/main" id="{4AFFAE30-3D40-4DC6-8E95-9C1132A2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4648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Rust validiert Typen, Schlüsselgrößen, Nonces und Tags.</a:t>
            </a:r>
          </a:p>
        </p:txBody>
      </p:sp>
      <p:sp>
        <p:nvSpPr>
          <p:cNvPr id="31" name="arch-bullet-3-dot">
            <a:extLst xmlns:a="http://schemas.openxmlformats.org/drawingml/2006/main">
              <a:ext uri="{FF2B5EF4-FFF2-40B4-BE49-F238E27FC236}">
                <a16:creationId xmlns:a16="http://schemas.microsoft.com/office/drawing/2014/main" id="{EAD5ECD8-6C9F-45FD-9AF2-65787AA8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19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  <p:sp>
        <p:nvSpPr>
          <p:cNvPr id="32" name="arch-bullet-3">
            <a:extLst xmlns:a="http://schemas.openxmlformats.org/drawingml/2006/main">
              <a:ext uri="{FF2B5EF4-FFF2-40B4-BE49-F238E27FC236}">
                <a16:creationId xmlns:a16="http://schemas.microsoft.com/office/drawing/2014/main" id="{1D38BF2D-A555-4831-914B-3ADC1D9E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4340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RustCrypto liefert geprüfte moderne Primitive.</a:t>
            </a:r>
          </a:p>
        </p:txBody>
      </p:sp>
      <p:sp>
        <p:nvSpPr>
          <p:cNvPr id="33" name="arch-bullet-4-dot">
            <a:extLst xmlns:a="http://schemas.openxmlformats.org/drawingml/2006/main">
              <a:ext uri="{FF2B5EF4-FFF2-40B4-BE49-F238E27FC236}">
                <a16:creationId xmlns:a16="http://schemas.microsoft.com/office/drawing/2014/main" id="{13910B93-71C3-47D3-A673-5330028F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95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8A"/>
          </a:solidFill>
          <a:ln xmlns:a="http://schemas.openxmlformats.org/drawingml/2006/main" w="0">
            <a:solidFill>
              <a:srgbClr val="F43F8A"/>
            </a:solidFill>
            <a:prstDash val="solid"/>
          </a:ln>
        </p:spPr>
      </p:sp>
      <p:sp>
        <p:nvSpPr>
          <p:cNvPr id="34" name="arch-bullet-4">
            <a:extLst xmlns:a="http://schemas.openxmlformats.org/drawingml/2006/main">
              <a:ext uri="{FF2B5EF4-FFF2-40B4-BE49-F238E27FC236}">
                <a16:creationId xmlns:a16="http://schemas.microsoft.com/office/drawing/2014/main" id="{55C0FF05-F224-4B98-B217-C7C3EFDD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81965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Fehler werden an der WASM-Grenze verständlich übersetzt.</a:t>
            </a:r>
          </a:p>
        </p:txBody>
      </p:sp>
      <p:sp>
        <p:nvSpPr>
          <p:cNvPr id="35" name="arch-tag">
            <a:extLst xmlns:a="http://schemas.openxmlformats.org/drawingml/2006/main">
              <a:ext uri="{FF2B5EF4-FFF2-40B4-BE49-F238E27FC236}">
                <a16:creationId xmlns:a16="http://schemas.microsoft.com/office/drawing/2014/main" id="{FFFE1795-0558-4F9D-A7DE-E3B430B1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56260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KEIN MOCK IM E2E-PFAD</a:t>
            </a:r>
          </a:p>
        </p:txBody>
      </p:sp>
    </p:spTree>
    <p:extLst>
      <p:ext uri="{BB962C8B-B14F-4D97-AF65-F5344CB8AC3E}">
        <p14:creationId xmlns:p14="http://schemas.microsoft.com/office/powerpoint/2010/main" val="6666804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4">
            <a:extLst xmlns:a="http://schemas.openxmlformats.org/drawingml/2006/main">
              <a:ext uri="{FF2B5EF4-FFF2-40B4-BE49-F238E27FC236}">
                <a16:creationId xmlns:a16="http://schemas.microsoft.com/office/drawing/2014/main" id="{0DEB4C27-7C6D-4322-B36E-2740AC4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LIVE-DEMO I</a:t>
            </a:r>
          </a:p>
        </p:txBody>
      </p:sp>
      <p:sp>
        <p:nvSpPr>
          <p:cNvPr id="2" name="index-4">
            <a:extLst xmlns:a="http://schemas.openxmlformats.org/drawingml/2006/main">
              <a:ext uri="{FF2B5EF4-FFF2-40B4-BE49-F238E27FC236}">
                <a16:creationId xmlns:a16="http://schemas.microsoft.com/office/drawing/2014/main" id="{25980376-B1D0-4523-B5BB-141B97C4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54450-8DA5-433E-9698-95E0C95A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FC933A4E-6731-4556-9A37-42E1FB22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889E5989-5970-4513-94F3-4F6C03AD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Vom Lernverfahren zur modernen Chiffre</a:t>
            </a:r>
          </a:p>
        </p:txBody>
      </p:sp>
      <p:sp>
        <p:nvSpPr>
          <p:cNvPr id="6" name="subtitle-4">
            <a:extLst xmlns:a="http://schemas.openxmlformats.org/drawingml/2006/main">
              <a:ext uri="{FF2B5EF4-FFF2-40B4-BE49-F238E27FC236}">
                <a16:creationId xmlns:a16="http://schemas.microsoft.com/office/drawing/2014/main" id="{57DFD5BE-C876-43DF-98DC-38E74A31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Erst einen einfachen Roundtrip zeigen, dann die zusätzliche Sicherheitsdimension.</a:t>
            </a:r>
          </a:p>
        </p:txBody>
      </p:sp>
      <p:sp>
        <p:nvSpPr>
          <p:cNvPr id="7" name="demo1-panel">
            <a:extLst xmlns:a="http://schemas.openxmlformats.org/drawingml/2006/main">
              <a:ext uri="{FF2B5EF4-FFF2-40B4-BE49-F238E27FC236}">
                <a16:creationId xmlns:a16="http://schemas.microsoft.com/office/drawing/2014/main" id="{8ADFA289-355C-468A-B927-C3B762A9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009900" cy="3333750"/>
          </a:xfrm>
          <a:prstGeom xmlns:a="http://schemas.openxmlformats.org/drawingml/2006/main" prst="roundRect">
            <a:avLst>
              <a:gd name="adj" fmla="val 3797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8" name="demo1-step">
            <a:extLst xmlns:a="http://schemas.openxmlformats.org/drawingml/2006/main">
              <a:ext uri="{FF2B5EF4-FFF2-40B4-BE49-F238E27FC236}">
                <a16:creationId xmlns:a16="http://schemas.microsoft.com/office/drawing/2014/main" id="{3E155AAB-D7F2-4569-8D8B-57DB3A29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19350"/>
            <a:ext cx="1333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01 · CAESAR</a:t>
            </a:r>
          </a:p>
        </p:txBody>
      </p:sp>
      <p:sp>
        <p:nvSpPr>
          <p:cNvPr id="9" name="demo1-input">
            <a:extLst xmlns:a="http://schemas.openxmlformats.org/drawingml/2006/main">
              <a:ext uri="{FF2B5EF4-FFF2-40B4-BE49-F238E27FC236}">
                <a16:creationId xmlns:a16="http://schemas.microsoft.com/office/drawing/2014/main" id="{8B5BE08B-4EDC-4C39-990E-3ABD6A19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ABC äöü</a:t>
            </a:r>
          </a:p>
        </p:txBody>
      </p:sp>
      <p:sp>
        <p:nvSpPr>
          <p:cNvPr id="10" name="demo1-arrow">
            <a:extLst xmlns:a="http://schemas.openxmlformats.org/drawingml/2006/main">
              <a:ext uri="{FF2B5EF4-FFF2-40B4-BE49-F238E27FC236}">
                <a16:creationId xmlns:a16="http://schemas.microsoft.com/office/drawing/2014/main" id="{1E7AD047-1D5F-473A-A43A-B69A0AA1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↓  Schlüssel 3</a:t>
            </a:r>
          </a:p>
        </p:txBody>
      </p:sp>
      <p:sp>
        <p:nvSpPr>
          <p:cNvPr id="11" name="demo1-output">
            <a:extLst xmlns:a="http://schemas.openxmlformats.org/drawingml/2006/main">
              <a:ext uri="{FF2B5EF4-FFF2-40B4-BE49-F238E27FC236}">
                <a16:creationId xmlns:a16="http://schemas.microsoft.com/office/drawing/2014/main" id="{04678298-458D-480C-A782-C5F08832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DEF äöü</a:t>
            </a:r>
          </a:p>
        </p:txBody>
      </p:sp>
      <p:sp>
        <p:nvSpPr>
          <p:cNvPr id="12" name="demo1-note-1-dot">
            <a:extLst xmlns:a="http://schemas.openxmlformats.org/drawingml/2006/main">
              <a:ext uri="{FF2B5EF4-FFF2-40B4-BE49-F238E27FC236}">
                <a16:creationId xmlns:a16="http://schemas.microsoft.com/office/drawing/2014/main" id="{F6C65D4E-0A84-40CC-B003-DE7457DA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8A"/>
          </a:solidFill>
          <a:ln xmlns:a="http://schemas.openxmlformats.org/drawingml/2006/main" w="0">
            <a:solidFill>
              <a:srgbClr val="F43F8A"/>
            </a:solidFill>
            <a:prstDash val="solid"/>
          </a:ln>
        </p:spPr>
      </p:sp>
      <p:sp>
        <p:nvSpPr>
          <p:cNvPr id="13" name="demo1-note-1">
            <a:extLst xmlns:a="http://schemas.openxmlformats.org/drawingml/2006/main">
              <a:ext uri="{FF2B5EF4-FFF2-40B4-BE49-F238E27FC236}">
                <a16:creationId xmlns:a16="http://schemas.microsoft.com/office/drawing/2014/main" id="{55B6001A-60FE-42E2-88C5-2A98CF77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291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ASCII verschiebt sich</a:t>
            </a:r>
          </a:p>
        </p:txBody>
      </p:sp>
      <p:sp>
        <p:nvSpPr>
          <p:cNvPr id="14" name="demo1-note-2-dot">
            <a:extLst xmlns:a="http://schemas.openxmlformats.org/drawingml/2006/main">
              <a:ext uri="{FF2B5EF4-FFF2-40B4-BE49-F238E27FC236}">
                <a16:creationId xmlns:a16="http://schemas.microsoft.com/office/drawing/2014/main" id="{E96F6AF3-2485-4106-A8B9-9C7E1259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  <p:sp>
        <p:nvSpPr>
          <p:cNvPr id="15" name="demo1-note-2">
            <a:extLst xmlns:a="http://schemas.openxmlformats.org/drawingml/2006/main">
              <a:ext uri="{FF2B5EF4-FFF2-40B4-BE49-F238E27FC236}">
                <a16:creationId xmlns:a16="http://schemas.microsoft.com/office/drawing/2014/main" id="{869FE8E2-10B2-4B0C-8525-1407C345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911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Unicode bleibt erhalten</a:t>
            </a:r>
          </a:p>
        </p:txBody>
      </p:sp>
      <p:sp>
        <p:nvSpPr>
          <p:cNvPr id="16" name="startseite.png-frame">
            <a:extLst xmlns:a="http://schemas.openxmlformats.org/drawingml/2006/main">
              <a:ext uri="{FF2B5EF4-FFF2-40B4-BE49-F238E27FC236}">
                <a16:creationId xmlns:a16="http://schemas.microsoft.com/office/drawing/2014/main" id="{41038CAE-22EB-469B-9712-217AC508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85975"/>
            <a:ext cx="73152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142B44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d0bbdc75ac4055"/>
          <a:srcRect xmlns:a="http://schemas.openxmlformats.org/drawingml/2006/main" l="0" t="45" r="0" b="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0" y="2152650"/>
            <a:ext cx="7181850" cy="4038600"/>
          </a:xfrm>
          <a:prstGeom xmlns:a="http://schemas.openxmlformats.org/drawingml/2006/main" prst="roundRect">
            <a:avLst>
              <a:gd name="adj" fmla="val 1887"/>
            </a:avLst>
          </a:prstGeom>
        </p:spPr>
      </p:pic>
      <p:sp>
        <p:nvSpPr>
          <p:cNvPr id="18" name="demo1-live">
            <a:extLst xmlns:a="http://schemas.openxmlformats.org/drawingml/2006/main">
              <a:ext uri="{FF2B5EF4-FFF2-40B4-BE49-F238E27FC236}">
                <a16:creationId xmlns:a16="http://schemas.microsoft.com/office/drawing/2014/main" id="{86744A14-E930-4098-81D2-D65AF640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810250"/>
            <a:ext cx="2000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LIVE: 35 SEKUNDEN</a:t>
            </a:r>
          </a:p>
        </p:txBody>
      </p:sp>
    </p:spTree>
    <p:extLst>
      <p:ext uri="{BB962C8B-B14F-4D97-AF65-F5344CB8AC3E}">
        <p14:creationId xmlns:p14="http://schemas.microsoft.com/office/powerpoint/2010/main" val="9242088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5">
            <a:extLst xmlns:a="http://schemas.openxmlformats.org/drawingml/2006/main">
              <a:ext uri="{FF2B5EF4-FFF2-40B4-BE49-F238E27FC236}">
                <a16:creationId xmlns:a16="http://schemas.microsoft.com/office/drawing/2014/main" id="{417429A8-CCE5-4B6B-906C-9C4DE196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LIVE-DEMO II</a:t>
            </a:r>
          </a:p>
        </p:txBody>
      </p:sp>
      <p:sp>
        <p:nvSpPr>
          <p:cNvPr id="2" name="index-5">
            <a:extLst xmlns:a="http://schemas.openxmlformats.org/drawingml/2006/main">
              <a:ext uri="{FF2B5EF4-FFF2-40B4-BE49-F238E27FC236}">
                <a16:creationId xmlns:a16="http://schemas.microsoft.com/office/drawing/2014/main" id="{DF2E2528-DC3C-44EE-8F23-AA3C17E0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90436-1BC0-4196-B49D-72EEBAB6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333C413B-9EC2-446C-A5E9-C34D67C4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F89A7578-DF8E-42F2-8A52-1FFF0FE0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AES-GCM schützt Inhalt und Integrität</a:t>
            </a:r>
          </a:p>
        </p:txBody>
      </p:sp>
      <p:sp>
        <p:nvSpPr>
          <p:cNvPr id="6" name="subtitle-5">
            <a:extLst xmlns:a="http://schemas.openxmlformats.org/drawingml/2006/main">
              <a:ext uri="{FF2B5EF4-FFF2-40B4-BE49-F238E27FC236}">
                <a16:creationId xmlns:a16="http://schemas.microsoft.com/office/drawing/2014/main" id="{DF4CC7C7-54F6-413D-A8BE-52AC7AC5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Geheimtext, Nonce und Tag werden getrennt sichtbar – die Authentifizierung bleibt gemeinsam.</a:t>
            </a:r>
          </a:p>
        </p:txBody>
      </p:sp>
      <p:sp>
        <p:nvSpPr>
          <p:cNvPr id="7" name="aes-steps">
            <a:extLst xmlns:a="http://schemas.openxmlformats.org/drawingml/2006/main">
              <a:ext uri="{FF2B5EF4-FFF2-40B4-BE49-F238E27FC236}">
                <a16:creationId xmlns:a16="http://schemas.microsoft.com/office/drawing/2014/main" id="{8AC76B4B-BC5F-4323-BFD6-0D9E0835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3333750" cy="34290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8" name="aes-step-0">
            <a:extLst xmlns:a="http://schemas.openxmlformats.org/drawingml/2006/main">
              <a:ext uri="{FF2B5EF4-FFF2-40B4-BE49-F238E27FC236}">
                <a16:creationId xmlns:a16="http://schemas.microsoft.com/office/drawing/2014/main" id="{7203337E-0E49-4664-9FE4-03B89680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F45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9" name="aes-step-number-0">
            <a:extLst xmlns:a="http://schemas.openxmlformats.org/drawingml/2006/main">
              <a:ext uri="{FF2B5EF4-FFF2-40B4-BE49-F238E27FC236}">
                <a16:creationId xmlns:a16="http://schemas.microsoft.com/office/drawing/2014/main" id="{0FF0D4BE-A7D6-435B-AB7D-F659E211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aes-step-label-0">
            <a:extLst xmlns:a="http://schemas.openxmlformats.org/drawingml/2006/main">
              <a:ext uri="{FF2B5EF4-FFF2-40B4-BE49-F238E27FC236}">
                <a16:creationId xmlns:a16="http://schemas.microsoft.com/office/drawing/2014/main" id="{8FB1A53B-444C-4300-A8AD-F2BEF15A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574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32-Byte-Schlüssel erzeugen</a:t>
            </a:r>
          </a:p>
        </p:txBody>
      </p:sp>
      <p:sp>
        <p:nvSpPr>
          <p:cNvPr id="11" name="aes-step-1">
            <a:extLst xmlns:a="http://schemas.openxmlformats.org/drawingml/2006/main">
              <a:ext uri="{FF2B5EF4-FFF2-40B4-BE49-F238E27FC236}">
                <a16:creationId xmlns:a16="http://schemas.microsoft.com/office/drawing/2014/main" id="{2A9BA7FF-0E15-452B-BCA4-605B349E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F45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12" name="aes-step-number-1">
            <a:extLst xmlns:a="http://schemas.openxmlformats.org/drawingml/2006/main">
              <a:ext uri="{FF2B5EF4-FFF2-40B4-BE49-F238E27FC236}">
                <a16:creationId xmlns:a16="http://schemas.microsoft.com/office/drawing/2014/main" id="{E44D152B-5468-4980-B00E-4284B838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aes-step-label-1">
            <a:extLst xmlns:a="http://schemas.openxmlformats.org/drawingml/2006/main">
              <a:ext uri="{FF2B5EF4-FFF2-40B4-BE49-F238E27FC236}">
                <a16:creationId xmlns:a16="http://schemas.microsoft.com/office/drawing/2014/main" id="{FC2EA9AE-9DED-4BDD-8C33-D0A9D980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432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Unicode-Text verschlüsseln</a:t>
            </a:r>
          </a:p>
        </p:txBody>
      </p:sp>
      <p:sp>
        <p:nvSpPr>
          <p:cNvPr id="14" name="aes-step-2">
            <a:extLst xmlns:a="http://schemas.openxmlformats.org/drawingml/2006/main">
              <a:ext uri="{FF2B5EF4-FFF2-40B4-BE49-F238E27FC236}">
                <a16:creationId xmlns:a16="http://schemas.microsoft.com/office/drawing/2014/main" id="{7485A730-7190-4E09-A5FF-D086DB1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F45"/>
          </a:solidFill>
          <a:ln xmlns:a="http://schemas.openxmlformats.org/drawingml/2006/main" w="19050">
            <a:solidFill>
              <a:srgbClr val="34D399"/>
            </a:solidFill>
            <a:prstDash val="solid"/>
          </a:ln>
        </p:spPr>
      </p:sp>
      <p:sp>
        <p:nvSpPr>
          <p:cNvPr id="15" name="aes-step-number-2">
            <a:extLst xmlns:a="http://schemas.openxmlformats.org/drawingml/2006/main">
              <a:ext uri="{FF2B5EF4-FFF2-40B4-BE49-F238E27FC236}">
                <a16:creationId xmlns:a16="http://schemas.microsoft.com/office/drawing/2014/main" id="{F9B5BB3B-9F79-4302-865B-661CC86F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aes-step-label-2">
            <a:extLst xmlns:a="http://schemas.openxmlformats.org/drawingml/2006/main">
              <a:ext uri="{FF2B5EF4-FFF2-40B4-BE49-F238E27FC236}">
                <a16:creationId xmlns:a16="http://schemas.microsoft.com/office/drawing/2014/main" id="{D349BD93-0BB0-410F-A206-69BBCC42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290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Roundtrip exakt prüfen</a:t>
            </a:r>
          </a:p>
        </p:txBody>
      </p:sp>
      <p:sp>
        <p:nvSpPr>
          <p:cNvPr id="17" name="aes-step-3">
            <a:extLst xmlns:a="http://schemas.openxmlformats.org/drawingml/2006/main">
              <a:ext uri="{FF2B5EF4-FFF2-40B4-BE49-F238E27FC236}">
                <a16:creationId xmlns:a16="http://schemas.microsoft.com/office/drawing/2014/main" id="{0EF2164E-BAC3-4B22-B726-5FFCD347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1735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18" name="aes-step-number-3">
            <a:extLst xmlns:a="http://schemas.openxmlformats.org/drawingml/2006/main">
              <a:ext uri="{FF2B5EF4-FFF2-40B4-BE49-F238E27FC236}">
                <a16:creationId xmlns:a16="http://schemas.microsoft.com/office/drawing/2014/main" id="{DA527C62-DB14-4A29-9620-FF58E367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aes-step-label-3">
            <a:extLst xmlns:a="http://schemas.openxmlformats.org/drawingml/2006/main">
              <a:ext uri="{FF2B5EF4-FFF2-40B4-BE49-F238E27FC236}">
                <a16:creationId xmlns:a16="http://schemas.microsoft.com/office/drawing/2014/main" id="{62E6A61E-0166-42E5-9287-8D2FB13F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Tag verändern → Fehler</a:t>
            </a:r>
          </a:p>
        </p:txBody>
      </p:sp>
      <p:sp>
        <p:nvSpPr>
          <p:cNvPr id="20" name="aes-rule">
            <a:extLst xmlns:a="http://schemas.openxmlformats.org/drawingml/2006/main">
              <a:ext uri="{FF2B5EF4-FFF2-40B4-BE49-F238E27FC236}">
                <a16:creationId xmlns:a16="http://schemas.microsoft.com/office/drawing/2014/main" id="{1FA8E3D4-CD58-44EA-8638-CE026125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24450"/>
            <a:ext cx="2667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MANIPULATION ⇒ KEIN KLARTEXT</a:t>
            </a:r>
          </a:p>
        </p:txBody>
      </p:sp>
      <p:sp>
        <p:nvSpPr>
          <p:cNvPr id="21" name="aes-verschluesselt.png-frame">
            <a:extLst xmlns:a="http://schemas.openxmlformats.org/drawingml/2006/main">
              <a:ext uri="{FF2B5EF4-FFF2-40B4-BE49-F238E27FC236}">
                <a16:creationId xmlns:a16="http://schemas.microsoft.com/office/drawing/2014/main" id="{D1A7B258-848C-444E-B9F0-CD8B64DB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085975"/>
            <a:ext cx="697230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142B44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4888a2d784d23"/>
          <a:srcRect xmlns:a="http://schemas.openxmlformats.org/drawingml/2006/main" l="0" t="15" r="0" b="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43400" y="2152650"/>
            <a:ext cx="6838950" cy="3848100"/>
          </a:xfrm>
          <a:prstGeom xmlns:a="http://schemas.openxmlformats.org/drawingml/2006/main" prst="roundRect">
            <a:avLst>
              <a:gd name="adj" fmla="val 1980"/>
            </a:avLst>
          </a:prstGeom>
        </p:spPr>
      </p:pic>
      <p:sp>
        <p:nvSpPr>
          <p:cNvPr id="23" name="aes-caption">
            <a:extLst xmlns:a="http://schemas.openxmlformats.org/drawingml/2006/main">
              <a:ext uri="{FF2B5EF4-FFF2-40B4-BE49-F238E27FC236}">
                <a16:creationId xmlns:a16="http://schemas.microsoft.com/office/drawing/2014/main" id="{64487D67-1C6D-4663-B342-51657095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115050"/>
            <a:ext cx="683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Echter lokaler Browserlauf · kein Mock · Konsole fehlerfrei</a:t>
            </a:r>
          </a:p>
        </p:txBody>
      </p:sp>
    </p:spTree>
    <p:extLst>
      <p:ext uri="{BB962C8B-B14F-4D97-AF65-F5344CB8AC3E}">
        <p14:creationId xmlns:p14="http://schemas.microsoft.com/office/powerpoint/2010/main" val="18547478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6">
            <a:extLst xmlns:a="http://schemas.openxmlformats.org/drawingml/2006/main">
              <a:ext uri="{FF2B5EF4-FFF2-40B4-BE49-F238E27FC236}">
                <a16:creationId xmlns:a16="http://schemas.microsoft.com/office/drawing/2014/main" id="{7F95CCE5-B160-4EAB-9F81-3E1AA6F5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RUST / WASM</a:t>
            </a:r>
          </a:p>
        </p:txBody>
      </p:sp>
      <p:sp>
        <p:nvSpPr>
          <p:cNvPr id="2" name="index-6">
            <a:extLst xmlns:a="http://schemas.openxmlformats.org/drawingml/2006/main">
              <a:ext uri="{FF2B5EF4-FFF2-40B4-BE49-F238E27FC236}">
                <a16:creationId xmlns:a16="http://schemas.microsoft.com/office/drawing/2014/main" id="{1717D71D-861E-4958-98BC-B91BFF32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F24D2-62B2-4BBD-805D-3B9C6A5C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51A009F2-67D2-49E4-8070-239A753D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6">
            <a:extLst xmlns:a="http://schemas.openxmlformats.org/drawingml/2006/main">
              <a:ext uri="{FF2B5EF4-FFF2-40B4-BE49-F238E27FC236}">
                <a16:creationId xmlns:a16="http://schemas.microsoft.com/office/drawing/2014/main" id="{46A64696-81D7-4842-96E9-58762F3E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Typen machen die Grenze explizit</a:t>
            </a:r>
          </a:p>
        </p:txBody>
      </p:sp>
      <p:sp>
        <p:nvSpPr>
          <p:cNvPr id="6" name="subtitle-6">
            <a:extLst xmlns:a="http://schemas.openxmlformats.org/drawingml/2006/main">
              <a:ext uri="{FF2B5EF4-FFF2-40B4-BE49-F238E27FC236}">
                <a16:creationId xmlns:a16="http://schemas.microsoft.com/office/drawing/2014/main" id="{084EBCD8-A65C-4FDE-AF77-6295A0BC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Validierung geschieht einmal in der Domäne; die UI erhält Wertobjekt oder verständlichen Fehler.</a:t>
            </a:r>
          </a:p>
        </p:txBody>
      </p:sp>
      <p:sp>
        <p:nvSpPr>
          <p:cNvPr id="7" name="type-0">
            <a:extLst xmlns:a="http://schemas.openxmlformats.org/drawingml/2006/main">
              <a:ext uri="{FF2B5EF4-FFF2-40B4-BE49-F238E27FC236}">
                <a16:creationId xmlns:a16="http://schemas.microsoft.com/office/drawing/2014/main" id="{48206B68-D586-42AE-8BCC-A0B0A7FE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057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8" name="type-name-0">
            <a:extLst xmlns:a="http://schemas.openxmlformats.org/drawingml/2006/main">
              <a:ext uri="{FF2B5EF4-FFF2-40B4-BE49-F238E27FC236}">
                <a16:creationId xmlns:a16="http://schemas.microsoft.com/office/drawing/2014/main" id="{BB24B770-48B4-424D-998A-B29F01C5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Key32</a:t>
            </a:r>
          </a:p>
        </p:txBody>
      </p:sp>
      <p:sp>
        <p:nvSpPr>
          <p:cNvPr id="9" name="type-size-0">
            <a:extLst xmlns:a="http://schemas.openxmlformats.org/drawingml/2006/main">
              <a:ext uri="{FF2B5EF4-FFF2-40B4-BE49-F238E27FC236}">
                <a16:creationId xmlns:a16="http://schemas.microsoft.com/office/drawing/2014/main" id="{3BBF45F6-8F6D-421E-9BB6-3D311418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32 Byte</a:t>
            </a:r>
          </a:p>
        </p:txBody>
      </p:sp>
      <p:sp>
        <p:nvSpPr>
          <p:cNvPr id="10" name="type-1">
            <a:extLst xmlns:a="http://schemas.openxmlformats.org/drawingml/2006/main">
              <a:ext uri="{FF2B5EF4-FFF2-40B4-BE49-F238E27FC236}">
                <a16:creationId xmlns:a16="http://schemas.microsoft.com/office/drawing/2014/main" id="{B1A249DB-BFCB-4BE8-87D0-6B109E8F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43150"/>
            <a:ext cx="2057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BBF24"/>
            </a:solidFill>
            <a:prstDash val="solid"/>
          </a:ln>
        </p:spPr>
      </p:sp>
      <p:sp>
        <p:nvSpPr>
          <p:cNvPr id="11" name="type-name-1">
            <a:extLst xmlns:a="http://schemas.openxmlformats.org/drawingml/2006/main">
              <a:ext uri="{FF2B5EF4-FFF2-40B4-BE49-F238E27FC236}">
                <a16:creationId xmlns:a16="http://schemas.microsoft.com/office/drawing/2014/main" id="{15113E84-13F0-43E6-882D-FF76649C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336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BBF24"/>
                </a:solidFill>
                <a:latin typeface="Aptos"/>
                <a:ea typeface="Aptos"/>
                <a:cs typeface="Aptos"/>
              </a:rPr>
              <a:t>Nonce12</a:t>
            </a:r>
          </a:p>
        </p:txBody>
      </p:sp>
      <p:sp>
        <p:nvSpPr>
          <p:cNvPr id="12" name="type-size-1">
            <a:extLst xmlns:a="http://schemas.openxmlformats.org/drawingml/2006/main">
              <a:ext uri="{FF2B5EF4-FFF2-40B4-BE49-F238E27FC236}">
                <a16:creationId xmlns:a16="http://schemas.microsoft.com/office/drawing/2014/main" id="{A5FE0E18-A243-498D-B35C-02662B51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12 Byte</a:t>
            </a:r>
          </a:p>
        </p:txBody>
      </p:sp>
      <p:sp>
        <p:nvSpPr>
          <p:cNvPr id="13" name="type-2">
            <a:extLst xmlns:a="http://schemas.openxmlformats.org/drawingml/2006/main">
              <a:ext uri="{FF2B5EF4-FFF2-40B4-BE49-F238E27FC236}">
                <a16:creationId xmlns:a16="http://schemas.microsoft.com/office/drawing/2014/main" id="{C2678882-6725-4004-8CF2-8B7B5BEA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343150"/>
            <a:ext cx="2057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14" name="type-name-2">
            <a:extLst xmlns:a="http://schemas.openxmlformats.org/drawingml/2006/main">
              <a:ext uri="{FF2B5EF4-FFF2-40B4-BE49-F238E27FC236}">
                <a16:creationId xmlns:a16="http://schemas.microsoft.com/office/drawing/2014/main" id="{4F6C602F-2E6C-4EB3-A4B8-8EB63C12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336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AuthTag16</a:t>
            </a:r>
          </a:p>
        </p:txBody>
      </p:sp>
      <p:sp>
        <p:nvSpPr>
          <p:cNvPr id="15" name="type-size-2">
            <a:extLst xmlns:a="http://schemas.openxmlformats.org/drawingml/2006/main">
              <a:ext uri="{FF2B5EF4-FFF2-40B4-BE49-F238E27FC236}">
                <a16:creationId xmlns:a16="http://schemas.microsoft.com/office/drawing/2014/main" id="{D8587A22-4EE2-448F-8F4E-63C5F662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16 Byte</a:t>
            </a:r>
          </a:p>
        </p:txBody>
      </p:sp>
      <p:sp>
        <p:nvSpPr>
          <p:cNvPr id="16" name="type-error">
            <a:extLst xmlns:a="http://schemas.openxmlformats.org/drawingml/2006/main">
              <a:ext uri="{FF2B5EF4-FFF2-40B4-BE49-F238E27FC236}">
                <a16:creationId xmlns:a16="http://schemas.microsoft.com/office/drawing/2014/main" id="{BB49474B-B99B-470D-BCFB-A71CD1FC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43150"/>
            <a:ext cx="2952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17" name="type-error-title">
            <a:extLst xmlns:a="http://schemas.openxmlformats.org/drawingml/2006/main">
              <a:ext uri="{FF2B5EF4-FFF2-40B4-BE49-F238E27FC236}">
                <a16:creationId xmlns:a16="http://schemas.microsoft.com/office/drawing/2014/main" id="{7E6A92BD-8458-4FF1-8216-4CB59F56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33650"/>
            <a:ext cx="2495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CryptoError</a:t>
            </a:r>
          </a:p>
        </p:txBody>
      </p:sp>
      <p:sp>
        <p:nvSpPr>
          <p:cNvPr id="18" name="type-error-detail">
            <a:extLst xmlns:a="http://schemas.openxmlformats.org/drawingml/2006/main">
              <a:ext uri="{FF2B5EF4-FFF2-40B4-BE49-F238E27FC236}">
                <a16:creationId xmlns:a16="http://schemas.microsoft.com/office/drawing/2014/main" id="{520BC457-92D5-4498-A4C7-15BB67E0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9900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Parameter · Base64 · UTF-8 · Auth</a:t>
            </a:r>
          </a:p>
        </p:txBody>
      </p:sp>
      <p:cxnSp>
        <p:nvCxnSpPr>
          <p:cNvPr id="47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429500" y="29051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3F8A"/>
            </a:solidFill>
            <a:prstDash val="solid"/>
            <a:tailEnd type="triangle" w="sm" len="sm"/>
          </a:ln>
        </p:spPr>
      </p:cxnSp>
      <p:sp>
        <p:nvSpPr>
          <p:cNvPr id="20" name="rust-code">
            <a:extLst xmlns:a="http://schemas.openxmlformats.org/drawingml/2006/main">
              <a:ext uri="{FF2B5EF4-FFF2-40B4-BE49-F238E27FC236}">
                <a16:creationId xmlns:a16="http://schemas.microsoft.com/office/drawing/2014/main" id="{257F5DD1-C4DB-418C-91F8-54E486B7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7056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6101B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21" name="rust-code-text">
            <a:extLst xmlns:a="http://schemas.openxmlformats.org/drawingml/2006/main">
              <a:ext uri="{FF2B5EF4-FFF2-40B4-BE49-F238E27FC236}">
                <a16:creationId xmlns:a16="http://schemas.microsoft.com/office/drawing/2014/main" id="{D324E2CA-3E68-4527-860E-7DB1CEEB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6191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2DD4BF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>
                <a:solidFill>
                  <a:srgbClr val="2DD4BF"/>
                </a:solidFill>
                <a:latin typeface="Cascadia Mono"/>
                <a:ea typeface="Cascadia Mono"/>
                <a:cs typeface="Cascadia Mono"/>
              </a:rPr>
              <a:t>#![forbid(unsafe_code)]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2DD4BF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>
                <a:solidFill>
                  <a:srgbClr val="2DD4BF"/>
                </a:solidFill>
                <a:latin typeface="Cascadia Mono"/>
                <a:ea typeface="Cascadia Mono"/>
                <a:cs typeface="Cascadia Mono"/>
              </a:rPr>
              <a:t>#![deny(missing_docs)]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2DD4BF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>
                <a:solidFill>
                  <a:srgbClr val="2DD4BF"/>
                </a:solidFill>
                <a:latin typeface="Cascadia Mono"/>
                <a:ea typeface="Cascadia Mono"/>
                <a:cs typeface="Cascadia Mono"/>
              </a:rPr>
              <a:t>WasmAeadResult { ciphertext, nonce, tag }</a:t>
            </a:r>
          </a:p>
        </p:txBody>
      </p:sp>
      <p:sp>
        <p:nvSpPr>
          <p:cNvPr id="22" name="rust-facts">
            <a:extLst xmlns:a="http://schemas.openxmlformats.org/drawingml/2006/main">
              <a:ext uri="{FF2B5EF4-FFF2-40B4-BE49-F238E27FC236}">
                <a16:creationId xmlns:a16="http://schemas.microsoft.com/office/drawing/2014/main" id="{B21F3D30-C2B8-4B8F-A111-AE43238A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38600"/>
            <a:ext cx="356235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23" name="rust-fact-1-dot">
            <a:extLst xmlns:a="http://schemas.openxmlformats.org/drawingml/2006/main">
              <a:ext uri="{FF2B5EF4-FFF2-40B4-BE49-F238E27FC236}">
                <a16:creationId xmlns:a16="http://schemas.microsoft.com/office/drawing/2014/main" id="{1A925C9E-54F9-4576-B282-197E26EA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  <p:sp>
        <p:nvSpPr>
          <p:cNvPr id="24" name="rust-fact-1">
            <a:extLst xmlns:a="http://schemas.openxmlformats.org/drawingml/2006/main">
              <a:ext uri="{FF2B5EF4-FFF2-40B4-BE49-F238E27FC236}">
                <a16:creationId xmlns:a16="http://schemas.microsoft.com/office/drawing/2014/main" id="{3EA6EA3F-C6A5-433A-81CB-D1CA4897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67200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16 dokumentierte WASM-Exports</a:t>
            </a:r>
          </a:p>
        </p:txBody>
      </p:sp>
      <p:sp>
        <p:nvSpPr>
          <p:cNvPr id="25" name="rust-fact-2-dot">
            <a:extLst xmlns:a="http://schemas.openxmlformats.org/drawingml/2006/main">
              <a:ext uri="{FF2B5EF4-FFF2-40B4-BE49-F238E27FC236}">
                <a16:creationId xmlns:a16="http://schemas.microsoft.com/office/drawing/2014/main" id="{E0EA2478-EA67-4C6E-B4E4-9D045BF0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62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26" name="rust-fact-2">
            <a:extLst xmlns:a="http://schemas.openxmlformats.org/drawingml/2006/main">
              <a:ext uri="{FF2B5EF4-FFF2-40B4-BE49-F238E27FC236}">
                <a16:creationId xmlns:a16="http://schemas.microsoft.com/office/drawing/2014/main" id="{2616CC81-F374-4B78-AA1E-94E9FA0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86300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RustCrypto statt eigener Primitive</a:t>
            </a:r>
          </a:p>
        </p:txBody>
      </p:sp>
      <p:sp>
        <p:nvSpPr>
          <p:cNvPr id="27" name="rust-fact-3-dot">
            <a:extLst xmlns:a="http://schemas.openxmlformats.org/drawingml/2006/main">
              <a:ext uri="{FF2B5EF4-FFF2-40B4-BE49-F238E27FC236}">
                <a16:creationId xmlns:a16="http://schemas.microsoft.com/office/drawing/2014/main" id="{B4F0EF6B-BBF7-44AB-86E0-32F50E0C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181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8" name="rust-fact-3">
            <a:extLst xmlns:a="http://schemas.openxmlformats.org/drawingml/2006/main">
              <a:ext uri="{FF2B5EF4-FFF2-40B4-BE49-F238E27FC236}">
                <a16:creationId xmlns:a16="http://schemas.microsoft.com/office/drawing/2014/main" id="{D00EB3B2-7C97-42FD-9C00-9BAC7926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05400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Base64 nur als Darstellung</a:t>
            </a:r>
          </a:p>
        </p:txBody>
      </p:sp>
    </p:spTree>
    <p:extLst>
      <p:ext uri="{BB962C8B-B14F-4D97-AF65-F5344CB8AC3E}">
        <p14:creationId xmlns:p14="http://schemas.microsoft.com/office/powerpoint/2010/main" val="7548405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ection-7">
            <a:extLst xmlns:a="http://schemas.openxmlformats.org/drawingml/2006/main">
              <a:ext uri="{FF2B5EF4-FFF2-40B4-BE49-F238E27FC236}">
                <a16:creationId xmlns:a16="http://schemas.microsoft.com/office/drawing/2014/main" id="{963260F9-A190-4733-A175-A460B679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QUALITÄT</a:t>
            </a:r>
          </a:p>
        </p:txBody>
      </p:sp>
      <p:sp>
        <p:nvSpPr>
          <p:cNvPr id="2" name="index-7">
            <a:extLst xmlns:a="http://schemas.openxmlformats.org/drawingml/2006/main">
              <a:ext uri="{FF2B5EF4-FFF2-40B4-BE49-F238E27FC236}">
                <a16:creationId xmlns:a16="http://schemas.microsoft.com/office/drawing/2014/main" id="{9ECDCA30-89F4-4D2C-A7A1-1D69BF04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2FD6D-E4AC-4D78-BBDF-C1363988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5264E170-6A72-4220-8838-3DC7F96C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7">
            <a:extLst xmlns:a="http://schemas.openxmlformats.org/drawingml/2006/main">
              <a:ext uri="{FF2B5EF4-FFF2-40B4-BE49-F238E27FC236}">
                <a16:creationId xmlns:a16="http://schemas.microsoft.com/office/drawing/2014/main" id="{44B73CDB-28A1-4E10-B5F8-AD5990B6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Qualität ist ein ausführbarer Nachweis</a:t>
            </a:r>
          </a:p>
        </p:txBody>
      </p:sp>
      <p:sp>
        <p:nvSpPr>
          <p:cNvPr id="6" name="subtitle-7">
            <a:extLst xmlns:a="http://schemas.openxmlformats.org/drawingml/2006/main">
              <a:ext uri="{FF2B5EF4-FFF2-40B4-BE49-F238E27FC236}">
                <a16:creationId xmlns:a16="http://schemas.microsoft.com/office/drawing/2014/main" id="{921783D6-C260-4F2D-9B18-9D9016BB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Der finale Stand wurde lokal als Release-Build und im echten Browser geprüft.</a:t>
            </a:r>
          </a:p>
        </p:txBody>
      </p:sp>
      <p:sp>
        <p:nvSpPr>
          <p:cNvPr id="7" name="metric-rust-card">
            <a:extLst xmlns:a="http://schemas.openxmlformats.org/drawingml/2006/main">
              <a:ext uri="{FF2B5EF4-FFF2-40B4-BE49-F238E27FC236}">
                <a16:creationId xmlns:a16="http://schemas.microsoft.com/office/drawing/2014/main" id="{D926E721-1C12-4611-8C84-1CADA140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4574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metric-rust-value">
            <a:extLst xmlns:a="http://schemas.openxmlformats.org/drawingml/2006/main">
              <a:ext uri="{FF2B5EF4-FFF2-40B4-BE49-F238E27FC236}">
                <a16:creationId xmlns:a16="http://schemas.microsoft.com/office/drawing/2014/main" id="{BF2592D7-646C-4FB6-90DD-7DF1B041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27 / 27</a:t>
            </a:r>
          </a:p>
        </p:txBody>
      </p:sp>
      <p:sp>
        <p:nvSpPr>
          <p:cNvPr id="9" name="metric-rust-label">
            <a:extLst xmlns:a="http://schemas.openxmlformats.org/drawingml/2006/main">
              <a:ext uri="{FF2B5EF4-FFF2-40B4-BE49-F238E27FC236}">
                <a16:creationId xmlns:a16="http://schemas.microsoft.com/office/drawing/2014/main" id="{C0E24690-5740-4052-BEA6-7E3D3EE5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Rust-Tests</a:t>
            </a:r>
          </a:p>
        </p:txBody>
      </p:sp>
      <p:sp>
        <p:nvSpPr>
          <p:cNvPr id="10" name="metric-e2e-card">
            <a:extLst xmlns:a="http://schemas.openxmlformats.org/drawingml/2006/main">
              <a:ext uri="{FF2B5EF4-FFF2-40B4-BE49-F238E27FC236}">
                <a16:creationId xmlns:a16="http://schemas.microsoft.com/office/drawing/2014/main" id="{5484D43B-6F46-42B0-A026-9F8C6C03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47900"/>
            <a:ext cx="24574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metric-e2e-value">
            <a:extLst xmlns:a="http://schemas.openxmlformats.org/drawingml/2006/main">
              <a:ext uri="{FF2B5EF4-FFF2-40B4-BE49-F238E27FC236}">
                <a16:creationId xmlns:a16="http://schemas.microsoft.com/office/drawing/2014/main" id="{D1FDDC0D-5DCC-481C-A492-CE46C112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18 / 18</a:t>
            </a:r>
          </a:p>
        </p:txBody>
      </p:sp>
      <p:sp>
        <p:nvSpPr>
          <p:cNvPr id="12" name="metric-e2e-label">
            <a:extLst xmlns:a="http://schemas.openxmlformats.org/drawingml/2006/main">
              <a:ext uri="{FF2B5EF4-FFF2-40B4-BE49-F238E27FC236}">
                <a16:creationId xmlns:a16="http://schemas.microsoft.com/office/drawing/2014/main" id="{82E610B8-FDC0-41F6-9B26-C5E8B51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24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Browser + WCAG</a:t>
            </a:r>
          </a:p>
        </p:txBody>
      </p:sp>
      <p:sp>
        <p:nvSpPr>
          <p:cNvPr id="13" name="metric-coverage-card">
            <a:extLst xmlns:a="http://schemas.openxmlformats.org/drawingml/2006/main">
              <a:ext uri="{FF2B5EF4-FFF2-40B4-BE49-F238E27FC236}">
                <a16:creationId xmlns:a16="http://schemas.microsoft.com/office/drawing/2014/main" id="{D732DDF0-4B33-46FA-B314-11848891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47900"/>
            <a:ext cx="24574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metric-coverage-value">
            <a:extLst xmlns:a="http://schemas.openxmlformats.org/drawingml/2006/main">
              <a:ext uri="{FF2B5EF4-FFF2-40B4-BE49-F238E27FC236}">
                <a16:creationId xmlns:a16="http://schemas.microsoft.com/office/drawing/2014/main" id="{63A958EB-4432-41B1-B9CB-E3D7AA81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98,82 %</a:t>
            </a:r>
          </a:p>
        </p:txBody>
      </p:sp>
      <p:sp>
        <p:nvSpPr>
          <p:cNvPr id="15" name="metric-coverage-label">
            <a:extLst xmlns:a="http://schemas.openxmlformats.org/drawingml/2006/main">
              <a:ext uri="{FF2B5EF4-FFF2-40B4-BE49-F238E27FC236}">
                <a16:creationId xmlns:a16="http://schemas.microsoft.com/office/drawing/2014/main" id="{693E1122-9C1D-4013-A23B-8E7D3A05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Rust Lines</a:t>
            </a:r>
          </a:p>
        </p:txBody>
      </p:sp>
      <p:sp>
        <p:nvSpPr>
          <p:cNvPr id="16" name="metric-lighthouse-card">
            <a:extLst xmlns:a="http://schemas.openxmlformats.org/drawingml/2006/main">
              <a:ext uri="{FF2B5EF4-FFF2-40B4-BE49-F238E27FC236}">
                <a16:creationId xmlns:a16="http://schemas.microsoft.com/office/drawing/2014/main" id="{D656B1CE-FCBD-4ABE-ACE7-071384C5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47900"/>
            <a:ext cx="24574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metric-lighthouse-value">
            <a:extLst xmlns:a="http://schemas.openxmlformats.org/drawingml/2006/main">
              <a:ext uri="{FF2B5EF4-FFF2-40B4-BE49-F238E27FC236}">
                <a16:creationId xmlns:a16="http://schemas.microsoft.com/office/drawing/2014/main" id="{D0E1FA5F-D07D-4F2C-A865-99E77C20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BBF24"/>
                </a:solidFill>
                <a:latin typeface="Aptos"/>
                <a:ea typeface="Aptos"/>
                <a:cs typeface="Aptos"/>
              </a:rPr>
              <a:t>100 × 4</a:t>
            </a:r>
          </a:p>
        </p:txBody>
      </p:sp>
      <p:sp>
        <p:nvSpPr>
          <p:cNvPr id="18" name="metric-lighthouse-label">
            <a:extLst xmlns:a="http://schemas.openxmlformats.org/drawingml/2006/main">
              <a:ext uri="{FF2B5EF4-FFF2-40B4-BE49-F238E27FC236}">
                <a16:creationId xmlns:a16="http://schemas.microsoft.com/office/drawing/2014/main" id="{819110F0-B631-4FB0-839C-4137146F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24200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Lighthouse</a:t>
            </a:r>
          </a:p>
        </p:txBody>
      </p:sp>
      <p:sp>
        <p:nvSpPr>
          <p:cNvPr id="19" name="quality-gates">
            <a:extLst xmlns:a="http://schemas.openxmlformats.org/drawingml/2006/main">
              <a:ext uri="{FF2B5EF4-FFF2-40B4-BE49-F238E27FC236}">
                <a16:creationId xmlns:a16="http://schemas.microsoft.com/office/drawing/2014/main" id="{C0118E71-FAB8-4E7F-8ECB-014DD7BA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6299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20" name="quality-gates-title">
            <a:extLst xmlns:a="http://schemas.openxmlformats.org/drawingml/2006/main">
              <a:ext uri="{FF2B5EF4-FFF2-40B4-BE49-F238E27FC236}">
                <a16:creationId xmlns:a16="http://schemas.microsoft.com/office/drawing/2014/main" id="{339AAE1B-6866-4AFC-ADB8-7757FBB0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24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FINALER QUALITÄTSPFAD</a:t>
            </a:r>
          </a:p>
        </p:txBody>
      </p:sp>
      <p:sp>
        <p:nvSpPr>
          <p:cNvPr id="21" name="gate-0">
            <a:extLst xmlns:a="http://schemas.openxmlformats.org/drawingml/2006/main">
              <a:ext uri="{FF2B5EF4-FFF2-40B4-BE49-F238E27FC236}">
                <a16:creationId xmlns:a16="http://schemas.microsoft.com/office/drawing/2014/main" id="{86DB2CEB-EB01-4ACA-9CD6-5F0DF3CA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rustfmt</a:t>
            </a:r>
          </a:p>
        </p:txBody>
      </p:sp>
      <p:sp>
        <p:nvSpPr>
          <p:cNvPr id="22" name="gate-1">
            <a:extLst xmlns:a="http://schemas.openxmlformats.org/drawingml/2006/main">
              <a:ext uri="{FF2B5EF4-FFF2-40B4-BE49-F238E27FC236}">
                <a16:creationId xmlns:a16="http://schemas.microsoft.com/office/drawing/2014/main" id="{C14FBEBF-C27D-443C-BB2E-0007EA8D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863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Clippy</a:t>
            </a:r>
          </a:p>
        </p:txBody>
      </p:sp>
      <p:sp>
        <p:nvSpPr>
          <p:cNvPr id="23" name="gate-2">
            <a:extLst xmlns:a="http://schemas.openxmlformats.org/drawingml/2006/main">
              <a:ext uri="{FF2B5EF4-FFF2-40B4-BE49-F238E27FC236}">
                <a16:creationId xmlns:a16="http://schemas.microsoft.com/office/drawing/2014/main" id="{C8AD417E-5F26-44D7-9B4C-5C7D4D50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863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Rustdoc</a:t>
            </a:r>
          </a:p>
        </p:txBody>
      </p:sp>
      <p:sp>
        <p:nvSpPr>
          <p:cNvPr id="24" name="gate-3">
            <a:extLst xmlns:a="http://schemas.openxmlformats.org/drawingml/2006/main">
              <a:ext uri="{FF2B5EF4-FFF2-40B4-BE49-F238E27FC236}">
                <a16:creationId xmlns:a16="http://schemas.microsoft.com/office/drawing/2014/main" id="{55EDC1E6-9F47-42FA-BFBE-889CB9D8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6863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Coverage</a:t>
            </a:r>
          </a:p>
        </p:txBody>
      </p:sp>
      <p:sp>
        <p:nvSpPr>
          <p:cNvPr id="25" name="gate-4">
            <a:extLst xmlns:a="http://schemas.openxmlformats.org/drawingml/2006/main">
              <a:ext uri="{FF2B5EF4-FFF2-40B4-BE49-F238E27FC236}">
                <a16:creationId xmlns:a16="http://schemas.microsoft.com/office/drawing/2014/main" id="{109538B5-F98E-4E3E-8714-95AD0E08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Prettier</a:t>
            </a:r>
          </a:p>
        </p:txBody>
      </p:sp>
      <p:sp>
        <p:nvSpPr>
          <p:cNvPr id="26" name="gate-5">
            <a:extLst xmlns:a="http://schemas.openxmlformats.org/drawingml/2006/main">
              <a:ext uri="{FF2B5EF4-FFF2-40B4-BE49-F238E27FC236}">
                <a16:creationId xmlns:a16="http://schemas.microsoft.com/office/drawing/2014/main" id="{63D79081-EC48-4307-BA78-5BA73F62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863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ESLint</a:t>
            </a:r>
          </a:p>
        </p:txBody>
      </p:sp>
      <p:sp>
        <p:nvSpPr>
          <p:cNvPr id="27" name="gate-6">
            <a:extLst xmlns:a="http://schemas.openxmlformats.org/drawingml/2006/main">
              <a:ext uri="{FF2B5EF4-FFF2-40B4-BE49-F238E27FC236}">
                <a16:creationId xmlns:a16="http://schemas.microsoft.com/office/drawing/2014/main" id="{9C284CC7-BD85-4F6A-8C27-C653D3D7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54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Typecheck</a:t>
            </a:r>
          </a:p>
        </p:txBody>
      </p:sp>
      <p:sp>
        <p:nvSpPr>
          <p:cNvPr id="28" name="gate-7">
            <a:extLst xmlns:a="http://schemas.openxmlformats.org/drawingml/2006/main">
              <a:ext uri="{FF2B5EF4-FFF2-40B4-BE49-F238E27FC236}">
                <a16:creationId xmlns:a16="http://schemas.microsoft.com/office/drawing/2014/main" id="{9D487E89-B9A1-4A84-9E79-869FD256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054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WASM</a:t>
            </a:r>
          </a:p>
        </p:txBody>
      </p:sp>
      <p:sp>
        <p:nvSpPr>
          <p:cNvPr id="29" name="gate-8">
            <a:extLst xmlns:a="http://schemas.openxmlformats.org/drawingml/2006/main">
              <a:ext uri="{FF2B5EF4-FFF2-40B4-BE49-F238E27FC236}">
                <a16:creationId xmlns:a16="http://schemas.microsoft.com/office/drawing/2014/main" id="{E3D08D3C-B542-4126-8BD7-30A4FD81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054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E2E</a:t>
            </a:r>
          </a:p>
        </p:txBody>
      </p:sp>
      <p:sp>
        <p:nvSpPr>
          <p:cNvPr id="30" name="gate-9">
            <a:extLst xmlns:a="http://schemas.openxmlformats.org/drawingml/2006/main">
              <a:ext uri="{FF2B5EF4-FFF2-40B4-BE49-F238E27FC236}">
                <a16:creationId xmlns:a16="http://schemas.microsoft.com/office/drawing/2014/main" id="{D24E7975-7FF4-41E6-B919-CC4BE8E0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054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axe</a:t>
            </a:r>
          </a:p>
        </p:txBody>
      </p:sp>
      <p:sp>
        <p:nvSpPr>
          <p:cNvPr id="31" name="gate-10">
            <a:extLst xmlns:a="http://schemas.openxmlformats.org/drawingml/2006/main">
              <a:ext uri="{FF2B5EF4-FFF2-40B4-BE49-F238E27FC236}">
                <a16:creationId xmlns:a16="http://schemas.microsoft.com/office/drawing/2014/main" id="{4F87702C-4A4C-4402-89A8-EA0E0DFC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054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Lighthouse</a:t>
            </a:r>
          </a:p>
        </p:txBody>
      </p:sp>
      <p:sp>
        <p:nvSpPr>
          <p:cNvPr id="32" name="gate-11">
            <a:extLst xmlns:a="http://schemas.openxmlformats.org/drawingml/2006/main">
              <a:ext uri="{FF2B5EF4-FFF2-40B4-BE49-F238E27FC236}">
                <a16:creationId xmlns:a16="http://schemas.microsoft.com/office/drawing/2014/main" id="{00729136-A38C-444F-87C4-8C30B025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0540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✓ audit</a:t>
            </a:r>
          </a:p>
        </p:txBody>
      </p:sp>
      <p:sp>
        <p:nvSpPr>
          <p:cNvPr id="33" name="quality-zero">
            <a:extLst xmlns:a="http://schemas.openxmlformats.org/drawingml/2006/main">
              <a:ext uri="{FF2B5EF4-FFF2-40B4-BE49-F238E27FC236}">
                <a16:creationId xmlns:a16="http://schemas.microsoft.com/office/drawing/2014/main" id="{17BFB473-86CD-40D5-A9DF-2359D06C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15000"/>
            <a:ext cx="2914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0 bekannte npm-Schwachstellen</a:t>
            </a:r>
          </a:p>
        </p:txBody>
      </p:sp>
    </p:spTree>
    <p:extLst>
      <p:ext uri="{BB962C8B-B14F-4D97-AF65-F5344CB8AC3E}">
        <p14:creationId xmlns:p14="http://schemas.microsoft.com/office/powerpoint/2010/main" val="8828751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section-8">
            <a:extLst xmlns:a="http://schemas.openxmlformats.org/drawingml/2006/main">
              <a:ext uri="{FF2B5EF4-FFF2-40B4-BE49-F238E27FC236}">
                <a16:creationId xmlns:a16="http://schemas.microsoft.com/office/drawing/2014/main" id="{65A59370-12E3-4353-B323-A150EE0E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PROZESS &amp; GRENZEN</a:t>
            </a:r>
          </a:p>
        </p:txBody>
      </p:sp>
      <p:sp>
        <p:nvSpPr>
          <p:cNvPr id="2" name="index-8">
            <a:extLst xmlns:a="http://schemas.openxmlformats.org/drawingml/2006/main">
              <a:ext uri="{FF2B5EF4-FFF2-40B4-BE49-F238E27FC236}">
                <a16:creationId xmlns:a16="http://schemas.microsoft.com/office/drawing/2014/main" id="{E029F71D-922F-4751-853C-76D36F6E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670D2-2965-4A90-981F-B40D94F1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60B9B5F8-8A48-4DE1-BA47-58580C8C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Kryptographie · Rust + WebAssembly · SoSe 2026</a:t>
            </a:r>
          </a:p>
        </p:txBody>
      </p:sp>
      <p:sp>
        <p:nvSpPr>
          <p:cNvPr id="5" name="title-8">
            <a:extLst xmlns:a="http://schemas.openxmlformats.org/drawingml/2006/main">
              <a:ext uri="{FF2B5EF4-FFF2-40B4-BE49-F238E27FC236}">
                <a16:creationId xmlns:a16="http://schemas.microsoft.com/office/drawing/2014/main" id="{07985C58-E277-455D-ACF1-04C51118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Vorschläge werden erst durch Gates zu Ergebnissen</a:t>
            </a:r>
          </a:p>
        </p:txBody>
      </p:sp>
      <p:sp>
        <p:nvSpPr>
          <p:cNvPr id="6" name="subtitle-8">
            <a:extLst xmlns:a="http://schemas.openxmlformats.org/drawingml/2006/main">
              <a:ext uri="{FF2B5EF4-FFF2-40B4-BE49-F238E27FC236}">
                <a16:creationId xmlns:a16="http://schemas.microsoft.com/office/drawing/2014/main" id="{90C90C14-B5EE-4027-9F5E-7516F940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Specs und messbare Akzeptanzkriterien halten Code, Dokumentation und KI-Nutzung überprüfbar.</a:t>
            </a:r>
          </a:p>
        </p:txBody>
      </p:sp>
      <p:sp>
        <p:nvSpPr>
          <p:cNvPr id="7" name="process-0">
            <a:extLst xmlns:a="http://schemas.openxmlformats.org/drawingml/2006/main">
              <a:ext uri="{FF2B5EF4-FFF2-40B4-BE49-F238E27FC236}">
                <a16:creationId xmlns:a16="http://schemas.microsoft.com/office/drawing/2014/main" id="{AB1DA1F1-4287-4032-8C43-8A0A1340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7716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8" name="process-label-0">
            <a:extLst xmlns:a="http://schemas.openxmlformats.org/drawingml/2006/main">
              <a:ext uri="{FF2B5EF4-FFF2-40B4-BE49-F238E27FC236}">
                <a16:creationId xmlns:a16="http://schemas.microsoft.com/office/drawing/2014/main" id="{294530FE-809D-4333-980D-09FC7DB4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Anforderung</a:t>
            </a:r>
          </a:p>
        </p:txBody>
      </p:sp>
      <p:sp>
        <p:nvSpPr>
          <p:cNvPr id="9" name="process-1">
            <a:extLst xmlns:a="http://schemas.openxmlformats.org/drawingml/2006/main">
              <a:ext uri="{FF2B5EF4-FFF2-40B4-BE49-F238E27FC236}">
                <a16:creationId xmlns:a16="http://schemas.microsoft.com/office/drawing/2014/main" id="{1C0C63AD-E1F1-4A32-BBD7-D622D4A6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28850"/>
            <a:ext cx="17716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10" name="process-label-1">
            <a:extLst xmlns:a="http://schemas.openxmlformats.org/drawingml/2006/main">
              <a:ext uri="{FF2B5EF4-FFF2-40B4-BE49-F238E27FC236}">
                <a16:creationId xmlns:a16="http://schemas.microsoft.com/office/drawing/2014/main" id="{D86DBD48-F18D-46F2-BCB3-B18968C4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0030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11" name="process-2">
            <a:extLst xmlns:a="http://schemas.openxmlformats.org/drawingml/2006/main">
              <a:ext uri="{FF2B5EF4-FFF2-40B4-BE49-F238E27FC236}">
                <a16:creationId xmlns:a16="http://schemas.microsoft.com/office/drawing/2014/main" id="{9A2C9A4F-8448-4AF8-A504-476B0EE7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28850"/>
            <a:ext cx="17716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12" name="process-label-2">
            <a:extLst xmlns:a="http://schemas.openxmlformats.org/drawingml/2006/main">
              <a:ext uri="{FF2B5EF4-FFF2-40B4-BE49-F238E27FC236}">
                <a16:creationId xmlns:a16="http://schemas.microsoft.com/office/drawing/2014/main" id="{3493D1DB-917B-4FEB-AFF2-6FD65AF4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0030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3" name="process-3">
            <a:extLst xmlns:a="http://schemas.openxmlformats.org/drawingml/2006/main">
              <a:ext uri="{FF2B5EF4-FFF2-40B4-BE49-F238E27FC236}">
                <a16:creationId xmlns:a16="http://schemas.microsoft.com/office/drawing/2014/main" id="{1D04BE9B-E23E-48B3-A3F8-044AA74A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28850"/>
            <a:ext cx="17716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9435F"/>
            </a:solidFill>
            <a:prstDash val="solid"/>
          </a:ln>
        </p:spPr>
      </p:sp>
      <p:sp>
        <p:nvSpPr>
          <p:cNvPr id="14" name="process-label-3">
            <a:extLst xmlns:a="http://schemas.openxmlformats.org/drawingml/2006/main">
              <a:ext uri="{FF2B5EF4-FFF2-40B4-BE49-F238E27FC236}">
                <a16:creationId xmlns:a16="http://schemas.microsoft.com/office/drawing/2014/main" id="{6510CA82-8B52-47A9-9F0A-3CECFB98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Implementierung</a:t>
            </a:r>
          </a:p>
        </p:txBody>
      </p:sp>
      <p:sp>
        <p:nvSpPr>
          <p:cNvPr id="15" name="process-4">
            <a:extLst xmlns:a="http://schemas.openxmlformats.org/drawingml/2006/main">
              <a:ext uri="{FF2B5EF4-FFF2-40B4-BE49-F238E27FC236}">
                <a16:creationId xmlns:a16="http://schemas.microsoft.com/office/drawing/2014/main" id="{3E47B71D-B7D4-44E6-AF44-C6F42551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28850"/>
            <a:ext cx="17716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19050">
            <a:solidFill>
              <a:srgbClr val="34D399"/>
            </a:solidFill>
            <a:prstDash val="solid"/>
          </a:ln>
        </p:spPr>
      </p:sp>
      <p:sp>
        <p:nvSpPr>
          <p:cNvPr id="16" name="process-label-4">
            <a:extLst xmlns:a="http://schemas.openxmlformats.org/drawingml/2006/main">
              <a:ext uri="{FF2B5EF4-FFF2-40B4-BE49-F238E27FC236}">
                <a16:creationId xmlns:a16="http://schemas.microsoft.com/office/drawing/2014/main" id="{F880748B-52ED-420A-A5C2-5D632E89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00300"/>
            <a:ext cx="1543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cxnSp>
        <p:nvCxnSpPr>
          <p:cNvPr id="53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381250" y="2571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D4BF"/>
            </a:solidFill>
            <a:prstDash val="solid"/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533900" y="2571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D4BF"/>
            </a:solidFill>
            <a:prstDash val="solid"/>
            <a:tailEnd type="triangle" w="sm" len="sm"/>
          </a:ln>
        </p:spPr>
      </p:cxnSp>
      <p:cxnSp>
        <p:nvCxnSpPr>
          <p:cNvPr id="55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686550" y="2571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DD4BF"/>
            </a:solidFill>
            <a:prstDash val="solid"/>
            <a:tailEnd type="triangle" w="sm" len="sm"/>
          </a:ln>
        </p:spPr>
      </p:cxnSp>
      <p:cxnSp>
        <p:nvCxnSpPr>
          <p:cNvPr id="56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39200" y="2571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sm" len="sm"/>
          </a:ln>
        </p:spPr>
      </p:cxnSp>
      <p:sp>
        <p:nvSpPr>
          <p:cNvPr id="21" name="process-ai">
            <a:extLst xmlns:a="http://schemas.openxmlformats.org/drawingml/2006/main">
              <a:ext uri="{FF2B5EF4-FFF2-40B4-BE49-F238E27FC236}">
                <a16:creationId xmlns:a16="http://schemas.microsoft.com/office/drawing/2014/main" id="{F3F18AD3-BD7B-46E9-84E5-D2009AAA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054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22" name="process-ai-pill">
            <a:extLst xmlns:a="http://schemas.openxmlformats.org/drawingml/2006/main">
              <a:ext uri="{FF2B5EF4-FFF2-40B4-BE49-F238E27FC236}">
                <a16:creationId xmlns:a16="http://schemas.microsoft.com/office/drawing/2014/main" id="{772AE0C4-A0B1-4DB0-8DE2-6A6FE62B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5760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KI KONTROLLIERT</a:t>
            </a:r>
          </a:p>
        </p:txBody>
      </p:sp>
      <p:sp>
        <p:nvSpPr>
          <p:cNvPr id="23" name="process-ai-1-dot">
            <a:extLst xmlns:a="http://schemas.openxmlformats.org/drawingml/2006/main">
              <a:ext uri="{FF2B5EF4-FFF2-40B4-BE49-F238E27FC236}">
                <a16:creationId xmlns:a16="http://schemas.microsoft.com/office/drawing/2014/main" id="{B23AEBE1-8488-4F53-8B5A-7C808302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  <p:sp>
        <p:nvSpPr>
          <p:cNvPr id="24" name="process-ai-1">
            <a:extLst xmlns:a="http://schemas.openxmlformats.org/drawingml/2006/main">
              <a:ext uri="{FF2B5EF4-FFF2-40B4-BE49-F238E27FC236}">
                <a16:creationId xmlns:a16="http://schemas.microsoft.com/office/drawing/2014/main" id="{009B646A-20A6-4F61-8517-FBC96033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432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wasm-pack 0.15 scheiterte → 0.14 reproduzierbar gepinnt</a:t>
            </a:r>
          </a:p>
        </p:txBody>
      </p:sp>
      <p:sp>
        <p:nvSpPr>
          <p:cNvPr id="25" name="process-ai-2-dot">
            <a:extLst xmlns:a="http://schemas.openxmlformats.org/drawingml/2006/main">
              <a:ext uri="{FF2B5EF4-FFF2-40B4-BE49-F238E27FC236}">
                <a16:creationId xmlns:a16="http://schemas.microsoft.com/office/drawing/2014/main" id="{54601698-9CC0-40AA-9561-991131A7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26" name="process-ai-2">
            <a:extLst xmlns:a="http://schemas.openxmlformats.org/drawingml/2006/main">
              <a:ext uri="{FF2B5EF4-FFF2-40B4-BE49-F238E27FC236}">
                <a16:creationId xmlns:a16="http://schemas.microsoft.com/office/drawing/2014/main" id="{00768AF8-BB85-4E15-BEB5-C40C4B7D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432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ARM-Coveragefehler → dokumentierter x86_64-Fallback</a:t>
            </a:r>
          </a:p>
        </p:txBody>
      </p:sp>
      <p:sp>
        <p:nvSpPr>
          <p:cNvPr id="27" name="process-ai-3-dot">
            <a:extLst xmlns:a="http://schemas.openxmlformats.org/drawingml/2006/main">
              <a:ext uri="{FF2B5EF4-FFF2-40B4-BE49-F238E27FC236}">
                <a16:creationId xmlns:a16="http://schemas.microsoft.com/office/drawing/2014/main" id="{5A2E2F0F-4053-4EFD-A60D-9F8A8EE0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8" name="process-ai-3">
            <a:extLst xmlns:a="http://schemas.openxmlformats.org/drawingml/2006/main">
              <a:ext uri="{FF2B5EF4-FFF2-40B4-BE49-F238E27FC236}">
                <a16:creationId xmlns:a16="http://schemas.microsoft.com/office/drawing/2014/main" id="{E406E27D-01FF-4592-BA70-24F06775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00650"/>
            <a:ext cx="432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Lighthouse-Paket mit Auditfunden → direkter Runner</a:t>
            </a:r>
          </a:p>
        </p:txBody>
      </p:sp>
      <p:sp>
        <p:nvSpPr>
          <p:cNvPr id="29" name="process-limits">
            <a:extLst xmlns:a="http://schemas.openxmlformats.org/drawingml/2006/main">
              <a:ext uri="{FF2B5EF4-FFF2-40B4-BE49-F238E27FC236}">
                <a16:creationId xmlns:a16="http://schemas.microsoft.com/office/drawing/2014/main" id="{323E452D-424E-4769-AF65-A008FDFD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51054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C1A2C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30" name="process-limits-pill">
            <a:extLst xmlns:a="http://schemas.openxmlformats.org/drawingml/2006/main">
              <a:ext uri="{FF2B5EF4-FFF2-40B4-BE49-F238E27FC236}">
                <a16:creationId xmlns:a16="http://schemas.microsoft.com/office/drawing/2014/main" id="{56B73397-34F7-4281-9040-FB466AC8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57600"/>
            <a:ext cx="1771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BEWUSSTE GRENZEN</a:t>
            </a:r>
          </a:p>
        </p:txBody>
      </p:sp>
      <p:sp>
        <p:nvSpPr>
          <p:cNvPr id="31" name="process-limit-1-dot">
            <a:extLst xmlns:a="http://schemas.openxmlformats.org/drawingml/2006/main">
              <a:ext uri="{FF2B5EF4-FFF2-40B4-BE49-F238E27FC236}">
                <a16:creationId xmlns:a16="http://schemas.microsoft.com/office/drawing/2014/main" id="{FE0E19BA-1A2A-48BF-BCE7-28F57E5C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8A"/>
          </a:solidFill>
          <a:ln xmlns:a="http://schemas.openxmlformats.org/drawingml/2006/main" w="0">
            <a:solidFill>
              <a:srgbClr val="F43F8A"/>
            </a:solidFill>
            <a:prstDash val="solid"/>
          </a:ln>
        </p:spPr>
      </p:sp>
      <p:sp>
        <p:nvSpPr>
          <p:cNvPr id="32" name="process-limit-1">
            <a:extLst xmlns:a="http://schemas.openxmlformats.org/drawingml/2006/main">
              <a:ext uri="{FF2B5EF4-FFF2-40B4-BE49-F238E27FC236}">
                <a16:creationId xmlns:a16="http://schemas.microsoft.com/office/drawing/2014/main" id="{A5ED4C4E-F88D-4A85-B2A0-47484208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71950"/>
            <a:ext cx="432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Lehrdemo, kein produktives Schlüsselmanagement</a:t>
            </a:r>
          </a:p>
        </p:txBody>
      </p:sp>
      <p:sp>
        <p:nvSpPr>
          <p:cNvPr id="33" name="process-limit-2-dot">
            <a:extLst xmlns:a="http://schemas.openxmlformats.org/drawingml/2006/main">
              <a:ext uri="{FF2B5EF4-FFF2-40B4-BE49-F238E27FC236}">
                <a16:creationId xmlns:a16="http://schemas.microsoft.com/office/drawing/2014/main" id="{FC8E9756-4480-4949-B3C4-469FE009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43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8A"/>
          </a:solidFill>
          <a:ln xmlns:a="http://schemas.openxmlformats.org/drawingml/2006/main" w="0">
            <a:solidFill>
              <a:srgbClr val="F43F8A"/>
            </a:solidFill>
            <a:prstDash val="solid"/>
          </a:ln>
        </p:spPr>
      </p:sp>
      <p:sp>
        <p:nvSpPr>
          <p:cNvPr id="34" name="process-limit-2">
            <a:extLst xmlns:a="http://schemas.openxmlformats.org/drawingml/2006/main">
              <a:ext uri="{FF2B5EF4-FFF2-40B4-BE49-F238E27FC236}">
                <a16:creationId xmlns:a16="http://schemas.microsoft.com/office/drawing/2014/main" id="{2912FFCC-0755-4F56-973E-FAB5222D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67250"/>
            <a:ext cx="432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historische Verfahren sind ausdrücklich unsicher</a:t>
            </a:r>
          </a:p>
        </p:txBody>
      </p:sp>
      <p:sp>
        <p:nvSpPr>
          <p:cNvPr id="35" name="process-limit-3-dot">
            <a:extLst xmlns:a="http://schemas.openxmlformats.org/drawingml/2006/main">
              <a:ext uri="{FF2B5EF4-FFF2-40B4-BE49-F238E27FC236}">
                <a16:creationId xmlns:a16="http://schemas.microsoft.com/office/drawing/2014/main" id="{CF5D615F-F50A-4987-A2A6-133FEE12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38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3F8A"/>
          </a:solidFill>
          <a:ln xmlns:a="http://schemas.openxmlformats.org/drawingml/2006/main" w="0">
            <a:solidFill>
              <a:srgbClr val="F43F8A"/>
            </a:solidFill>
            <a:prstDash val="solid"/>
          </a:ln>
        </p:spPr>
      </p:sp>
      <p:sp>
        <p:nvSpPr>
          <p:cNvPr id="36" name="process-limit-3">
            <a:extLst xmlns:a="http://schemas.openxmlformats.org/drawingml/2006/main">
              <a:ext uri="{FF2B5EF4-FFF2-40B4-BE49-F238E27FC236}">
                <a16:creationId xmlns:a16="http://schemas.microsoft.com/office/drawing/2014/main" id="{B4A359D5-342C-4584-A81D-16EA6A30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62550"/>
            <a:ext cx="432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AFC"/>
                </a:solidFill>
                <a:latin typeface="Aptos"/>
                <a:ea typeface="Aptos"/>
                <a:cs typeface="Aptos"/>
              </a:rPr>
              <a:t>kein vollständiges Sicherheitsaudit oder Backend</a:t>
            </a:r>
          </a:p>
        </p:txBody>
      </p:sp>
    </p:spTree>
    <p:extLst>
      <p:ext uri="{BB962C8B-B14F-4D97-AF65-F5344CB8AC3E}">
        <p14:creationId xmlns:p14="http://schemas.microsoft.com/office/powerpoint/2010/main" val="13284067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lose-pill">
            <a:extLst xmlns:a="http://schemas.openxmlformats.org/drawingml/2006/main">
              <a:ext uri="{FF2B5EF4-FFF2-40B4-BE49-F238E27FC236}">
                <a16:creationId xmlns:a16="http://schemas.microsoft.com/office/drawing/2014/main" id="{C5FA8BDB-A9A4-4BDB-9CD3-30EA71CA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F45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FAZIT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C99C5D7D-47C2-49FC-8D95-8DD0F0F9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6286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Eine Fachlogik.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Kleine Grenze.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7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Messbare Qualität.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82912E-7470-4F93-B6D4-89109F24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43F8A"/>
            </a:solidFill>
            <a:prstDash val="solid"/>
          </a:ln>
        </p:spPr>
      </p:sp>
      <p:sp>
        <p:nvSpPr>
          <p:cNvPr id="4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04D10105-74F7-47BE-8C95-5F90D5DA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Rust + WebAssembly machen die Kryptographie im Browser nachvollziehbar – und testbar.</a:t>
            </a:r>
          </a:p>
        </p:txBody>
      </p:sp>
      <p:sp>
        <p:nvSpPr>
          <p:cNvPr id="5" name="close-card-0">
            <a:extLst xmlns:a="http://schemas.openxmlformats.org/drawingml/2006/main">
              <a:ext uri="{FF2B5EF4-FFF2-40B4-BE49-F238E27FC236}">
                <a16:creationId xmlns:a16="http://schemas.microsoft.com/office/drawing/2014/main" id="{086E4218-AA62-45C5-9A05-FB34AE1A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95400"/>
            <a:ext cx="3581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F43F8A"/>
            </a:solidFill>
            <a:prstDash val="solid"/>
          </a:ln>
        </p:spPr>
      </p:sp>
      <p:sp>
        <p:nvSpPr>
          <p:cNvPr id="6" name="close-number-0">
            <a:extLst xmlns:a="http://schemas.openxmlformats.org/drawingml/2006/main">
              <a:ext uri="{FF2B5EF4-FFF2-40B4-BE49-F238E27FC236}">
                <a16:creationId xmlns:a16="http://schemas.microsoft.com/office/drawing/2014/main" id="{6D1EDA74-988B-45A8-9ADE-0FE56169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close-card-title-0">
            <a:extLst xmlns:a="http://schemas.openxmlformats.org/drawingml/2006/main">
              <a:ext uri="{FF2B5EF4-FFF2-40B4-BE49-F238E27FC236}">
                <a16:creationId xmlns:a16="http://schemas.microsoft.com/office/drawing/2014/main" id="{BE5E2DC9-60B8-4305-A9F5-86BB704A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85900"/>
            <a:ext cx="2419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Fachlich</a:t>
            </a:r>
          </a:p>
        </p:txBody>
      </p:sp>
      <p:sp>
        <p:nvSpPr>
          <p:cNvPr id="8" name="close-card-detail-0">
            <a:extLst xmlns:a="http://schemas.openxmlformats.org/drawingml/2006/main">
              <a:ext uri="{FF2B5EF4-FFF2-40B4-BE49-F238E27FC236}">
                <a16:creationId xmlns:a16="http://schemas.microsoft.com/office/drawing/2014/main" id="{CF592F79-9BBA-42AD-86BC-2F6EAF75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6690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5 Verfahren</a:t>
            </a:r>
          </a:p>
        </p:txBody>
      </p:sp>
      <p:sp>
        <p:nvSpPr>
          <p:cNvPr id="9" name="close-card-1">
            <a:extLst xmlns:a="http://schemas.openxmlformats.org/drawingml/2006/main">
              <a:ext uri="{FF2B5EF4-FFF2-40B4-BE49-F238E27FC236}">
                <a16:creationId xmlns:a16="http://schemas.microsoft.com/office/drawing/2014/main" id="{A6BA2569-9485-441A-9BEC-0C168DEC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47950"/>
            <a:ext cx="3581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2DD4BF"/>
            </a:solidFill>
            <a:prstDash val="solid"/>
          </a:ln>
        </p:spPr>
      </p:sp>
      <p:sp>
        <p:nvSpPr>
          <p:cNvPr id="10" name="close-number-1">
            <a:extLst xmlns:a="http://schemas.openxmlformats.org/drawingml/2006/main">
              <a:ext uri="{FF2B5EF4-FFF2-40B4-BE49-F238E27FC236}">
                <a16:creationId xmlns:a16="http://schemas.microsoft.com/office/drawing/2014/main" id="{50F4F4C4-7056-415D-8D47-416E3D4D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765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close-card-title-1">
            <a:extLst xmlns:a="http://schemas.openxmlformats.org/drawingml/2006/main">
              <a:ext uri="{FF2B5EF4-FFF2-40B4-BE49-F238E27FC236}">
                <a16:creationId xmlns:a16="http://schemas.microsoft.com/office/drawing/2014/main" id="{AE8D7773-BFAA-4BDA-AC54-AC52311E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38450"/>
            <a:ext cx="2419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Architektonisch</a:t>
            </a:r>
          </a:p>
        </p:txBody>
      </p:sp>
      <p:sp>
        <p:nvSpPr>
          <p:cNvPr id="12" name="close-card-detail-1">
            <a:extLst xmlns:a="http://schemas.openxmlformats.org/drawingml/2006/main">
              <a:ext uri="{FF2B5EF4-FFF2-40B4-BE49-F238E27FC236}">
                <a16:creationId xmlns:a16="http://schemas.microsoft.com/office/drawing/2014/main" id="{A044C945-BF31-473D-93E9-87FC6ADC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16 WASM-Exports</a:t>
            </a:r>
          </a:p>
        </p:txBody>
      </p:sp>
      <p:sp>
        <p:nvSpPr>
          <p:cNvPr id="13" name="close-card-2">
            <a:extLst xmlns:a="http://schemas.openxmlformats.org/drawingml/2006/main">
              <a:ext uri="{FF2B5EF4-FFF2-40B4-BE49-F238E27FC236}">
                <a16:creationId xmlns:a16="http://schemas.microsoft.com/office/drawing/2014/main" id="{B9293F8B-3FE9-4568-94C5-FA2E8157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00500"/>
            <a:ext cx="3581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9050">
            <a:solidFill>
              <a:srgbClr val="34D399"/>
            </a:solidFill>
            <a:prstDash val="solid"/>
          </a:ln>
        </p:spPr>
      </p:sp>
      <p:sp>
        <p:nvSpPr>
          <p:cNvPr id="14" name="close-number-2">
            <a:extLst xmlns:a="http://schemas.openxmlformats.org/drawingml/2006/main">
              <a:ext uri="{FF2B5EF4-FFF2-40B4-BE49-F238E27FC236}">
                <a16:creationId xmlns:a16="http://schemas.microsoft.com/office/drawing/2014/main" id="{BC19A222-0625-4368-97EF-21EA8489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291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close-card-title-2">
            <a:extLst xmlns:a="http://schemas.openxmlformats.org/drawingml/2006/main">
              <a:ext uri="{FF2B5EF4-FFF2-40B4-BE49-F238E27FC236}">
                <a16:creationId xmlns:a16="http://schemas.microsoft.com/office/drawing/2014/main" id="{DD09D9E1-8BB9-4666-849D-E78C02C1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19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Nachgewiesen</a:t>
            </a:r>
          </a:p>
        </p:txBody>
      </p:sp>
      <p:sp>
        <p:nvSpPr>
          <p:cNvPr id="16" name="close-card-detail-2">
            <a:extLst xmlns:a="http://schemas.openxmlformats.org/drawingml/2006/main">
              <a:ext uri="{FF2B5EF4-FFF2-40B4-BE49-F238E27FC236}">
                <a16:creationId xmlns:a16="http://schemas.microsoft.com/office/drawing/2014/main" id="{A2B64051-BBED-4C1A-B5D7-821AB29D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72000"/>
            <a:ext cx="2419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45 grüne Tests</a:t>
            </a:r>
          </a:p>
        </p:txBody>
      </p:sp>
      <p:sp>
        <p:nvSpPr>
          <p:cNvPr id="17" name="close-questions">
            <a:extLst xmlns:a="http://schemas.openxmlformats.org/drawingml/2006/main">
              <a:ext uri="{FF2B5EF4-FFF2-40B4-BE49-F238E27FC236}">
                <a16:creationId xmlns:a16="http://schemas.microsoft.com/office/drawing/2014/main" id="{298BE768-8422-4774-AE15-DB3EC639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581650"/>
            <a:ext cx="2286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1735"/>
          </a:solidFill>
          <a:ln xmlns:a="http://schemas.openxmlformats.org/drawingml/2006/main" w="9525">
            <a:solidFill>
              <a:srgbClr val="F43F8A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3F8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3F8A"/>
                </a:solidFill>
                <a:latin typeface="Aptos"/>
                <a:ea typeface="Aptos"/>
                <a:cs typeface="Aptos"/>
              </a:rPr>
              <a:t>FRAGEN?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427C1E-3778-4E18-89D8-BC920CD4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9435F"/>
            </a:solidFill>
            <a:prstDash val="solid"/>
          </a:ln>
        </p:spPr>
      </p:sp>
      <p:sp>
        <p:nvSpPr>
          <p:cNvPr id="19" name="close-repo">
            <a:extLst xmlns:a="http://schemas.openxmlformats.org/drawingml/2006/main">
              <a:ext uri="{FF2B5EF4-FFF2-40B4-BE49-F238E27FC236}">
                <a16:creationId xmlns:a16="http://schemas.microsoft.com/office/drawing/2014/main" id="{10F2737A-32E3-4C1F-9BCE-0B750932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DD4BF"/>
                </a:solidFill>
                <a:latin typeface="Aptos"/>
                <a:ea typeface="Aptos"/>
                <a:cs typeface="Aptos"/>
              </a:rPr>
              <a:t>github.com/lindgreendavid/kryptographie-wasm</a:t>
            </a:r>
          </a:p>
        </p:txBody>
      </p:sp>
      <p:sp>
        <p:nvSpPr>
          <p:cNvPr id="20" name="close-thanks">
            <a:extLst xmlns:a="http://schemas.openxmlformats.org/drawingml/2006/main">
              <a:ext uri="{FF2B5EF4-FFF2-40B4-BE49-F238E27FC236}">
                <a16:creationId xmlns:a16="http://schemas.microsoft.com/office/drawing/2014/main" id="{D60810BD-C75E-497C-8322-69463317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293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F7FAF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AFC"/>
                </a:solidFill>
                <a:latin typeface="Aptos"/>
                <a:ea typeface="Aptos"/>
                <a:cs typeface="Aptos"/>
              </a:rPr>
              <a:t>Vielen Dank</a:t>
            </a:r>
          </a:p>
        </p:txBody>
      </p:sp>
    </p:spTree>
    <p:extLst>
      <p:ext uri="{BB962C8B-B14F-4D97-AF65-F5344CB8AC3E}">
        <p14:creationId xmlns:p14="http://schemas.microsoft.com/office/powerpoint/2010/main" val="778174635"/>
      </p:ext>
    </p:extLst>
  </p:cSld>
</p:sld>
</file>

<file path=ppt/theme/theme1.xml><?xml version="1.0" encoding="utf-8"?>
<a:theme xmlns:a="http://schemas.openxmlformats.org/drawingml/2006/main" name="ChatGPT">
  <a:themeElements>
    <a:clrScheme name="Kryptographie Cyber">
      <a:dk1>
        <a:srgbClr val="000000"/>
      </a:dk1>
      <a:lt1>
        <a:srgbClr val="FFFFFF"/>
      </a:lt1>
      <a:dk2>
        <a:srgbClr val="10243A"/>
      </a:dk2>
      <a:lt2>
        <a:srgbClr val="E2E8F0"/>
      </a:lt2>
      <a:accent1>
        <a:srgbClr val="2DD4BF"/>
      </a:accent1>
      <a:accent2>
        <a:srgbClr val="F43F8A"/>
      </a:accent2>
      <a:accent3>
        <a:srgbClr val="FBBF24"/>
      </a:accent3>
      <a:accent4>
        <a:srgbClr val="34D399"/>
      </a:accent4>
      <a:accent5>
        <a:srgbClr val="8B5CF6"/>
      </a:accent5>
      <a:accent6>
        <a:srgbClr val="FB7185"/>
      </a:accent6>
      <a:hlink>
        <a:srgbClr val="2DD4BF"/>
      </a:hlink>
      <a:folHlink>
        <a:srgbClr val="F43F8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ryptographie Cyber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2026-08-26T06:31:04.7880000Z</dcterms:created>
  <dcterms:modified xsi:type="dcterms:W3CDTF">2026-08-26T06:31:04.7890000Z</dcterms:modified>
</coreProperties>
</file>